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1D063-79B8-B4F2-4331-7450605C0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674BE7-D403-945E-7107-13E881DEF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5887D9-4C4E-D27A-5145-491204D6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15BDCE-889D-FE4A-1FB8-0B14FFF2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82C37-3D0E-1C61-AC2D-BC6D398AE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41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B9D01-E0C6-9D58-C774-F5AD1E431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0387A5-6893-5C31-A71F-AEE21372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494E7-6643-CCB0-C0CB-554E59DB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B1FC3-D14C-177B-0FE3-D85B4534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E78F2-335D-CBB3-F4FD-54668B4C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29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9FD56-E09E-6975-8619-7ADA1C12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6FD074-FB7C-4B1F-F5FA-745453639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49C27-1145-390E-18A2-10312E5A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D373B-E02C-AB19-27BA-AC291745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3017FB-31DE-12DE-DEE2-44099242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79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37770-F0D9-9D62-0B98-C6EBF1FB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4EC69-00F6-0F8F-AAB0-54BE0644A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171D7C-8BE4-848D-D854-36898B2BE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5016D3-0AEB-7A91-DE8B-BC79868F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8556E-8DD3-20C2-D889-5245D67C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4F2A0-9798-8F30-FA0F-C48D1650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94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513F8-CF7E-D933-507C-EBB31150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8A7D2-1075-4816-B04F-EC357328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74D9B5-ACDC-A575-01F9-F1D94CE6E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A603E8-168B-89AC-C9B1-B879972E7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5D75A0-B5E3-847A-6152-EC0F03E36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73EF62-13A2-54C6-87A8-6C4DEE71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0C0972-F639-A68A-2A56-D60A6165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7DCD92-5C08-C6C5-456B-27BF65DA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8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A2584-6025-985E-8059-CDFA061A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AD8E89-9350-AB3C-B855-D3A7B40E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52E938-151F-09BB-33C0-FCA81F17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3B1D8C-3B6F-68C2-055B-98BB5E0B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87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9F8A52-9305-AEAF-D08C-B916EF00A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E2A4AB-B17E-7DFF-839A-03665A2D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435E3-EC07-96E4-66F1-F02A49FC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60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0F04F-B277-8F2F-75BD-B73DA21D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8B9B9-3D23-7A8C-0B31-F9680A1BF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36169B-6240-239B-E410-DA9A14B32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1AB02-8F6E-1DA6-D9B1-5F3AAED5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72FE3E-A08D-F61F-9592-9922EAB5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D44421-BCBF-7F70-4CBE-45F4693F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9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C8A12-F869-63B8-4E77-28D0CD1D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982BD3-B80D-49DD-B262-738E45B4D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268A5F-A647-B2C8-27E1-436B0814E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39D6A4-E22D-42B3-E27A-6AD912C1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DC29D1-82D4-34FD-B5EA-6921BB53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816FA8-24B4-44A5-800B-5C716E71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6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A5412-BC0F-011A-3DF1-1A95429D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EFF3AD-5A7D-9DA7-21CE-1459B168A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96397-C3F3-55EB-A8FF-8C5BA05D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3A9C0-E671-25D6-FCA1-F0ACBDF6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AAD5AB-BE96-003A-B648-ACB0121A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36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17B2E1-BC26-D9C3-DF27-21F3FE658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EA7CA6-3D9F-BC5F-469B-181A02B89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CCE46-A3AB-FAE3-C6EC-A57997B1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23477-8978-1FE0-268D-429F6A73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0B12A-41F7-64CC-B1B6-624267D2B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03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DA8E63-92CC-A667-59CB-19A5CABA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4393A7-12DF-EDA6-ECC3-D827C2315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F11E3-4CF6-3DB3-CCA4-9C24D2A29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1A881-C27B-4023-9059-A30F80FDE22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96E6A-BB35-F25C-3490-5F040A772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22A76-B6D9-654F-ECDA-2222B7292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F570-44BF-4BC6-9271-D4E2A2711B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8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BFBF6C-8582-3BCB-3EB7-0B1346EBA6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35B3F8-38AB-12CB-8EF3-E7C716758E73}"/>
              </a:ext>
            </a:extLst>
          </p:cNvPr>
          <p:cNvSpPr/>
          <p:nvPr/>
        </p:nvSpPr>
        <p:spPr>
          <a:xfrm>
            <a:off x="0" y="4521200"/>
            <a:ext cx="12192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165558-1B89-5DB6-7391-6E3C645AD40B}"/>
              </a:ext>
            </a:extLst>
          </p:cNvPr>
          <p:cNvSpPr txBox="1"/>
          <p:nvPr/>
        </p:nvSpPr>
        <p:spPr>
          <a:xfrm>
            <a:off x="762000" y="2260600"/>
            <a:ext cx="10668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FFFFFF"/>
                </a:solidFill>
                <a:latin typeface="微软雅黑" panose="020B0503020204020204" pitchFamily="34" charset="-122"/>
              </a:rPr>
              <a:t>余弦相似度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5A8111-AB98-7609-98C9-43F64C82B335}"/>
              </a:ext>
            </a:extLst>
          </p:cNvPr>
          <p:cNvSpPr txBox="1"/>
          <p:nvPr/>
        </p:nvSpPr>
        <p:spPr>
          <a:xfrm>
            <a:off x="762000" y="3581400"/>
            <a:ext cx="1066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200">
                <a:solidFill>
                  <a:srgbClr val="00B0F0"/>
                </a:solidFill>
                <a:latin typeface="微软雅黑" panose="020B0503020204020204" pitchFamily="34" charset="-122"/>
              </a:rPr>
              <a:t>Cosine Similarity</a:t>
            </a:r>
            <a:endParaRPr lang="zh-CN" altLang="en-US" sz="2200">
              <a:solidFill>
                <a:srgbClr val="00B0F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82CBEC-62CA-91DA-2DD0-CE044E5182B3}"/>
              </a:ext>
            </a:extLst>
          </p:cNvPr>
          <p:cNvSpPr txBox="1"/>
          <p:nvPr/>
        </p:nvSpPr>
        <p:spPr>
          <a:xfrm>
            <a:off x="762000" y="4724400"/>
            <a:ext cx="1066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定位式综合调研 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</a:rPr>
              <a:t>可视化简报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92C1C6-AF05-3377-1409-790A129D3582}"/>
              </a:ext>
            </a:extLst>
          </p:cNvPr>
          <p:cNvSpPr txBox="1"/>
          <p:nvPr/>
        </p:nvSpPr>
        <p:spPr>
          <a:xfrm>
            <a:off x="762000" y="56642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DCE6F1"/>
                </a:solidFill>
                <a:latin typeface="微软雅黑" panose="020B0503020204020204" pitchFamily="34" charset="-122"/>
              </a:rPr>
              <a:t>2026-09-20   ·   </a:t>
            </a:r>
            <a:r>
              <a:rPr lang="zh-CN" altLang="en-US" sz="1300">
                <a:solidFill>
                  <a:srgbClr val="DCE6F1"/>
                </a:solidFill>
                <a:latin typeface="微软雅黑" panose="020B0503020204020204" pitchFamily="34" charset="-122"/>
              </a:rPr>
              <a:t>课程讲解 </a:t>
            </a:r>
            <a:r>
              <a:rPr lang="en-US" altLang="zh-CN" sz="1300">
                <a:solidFill>
                  <a:srgbClr val="DCE6F1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DCE6F1"/>
                </a:solidFill>
                <a:latin typeface="微软雅黑" panose="020B0503020204020204" pitchFamily="34" charset="-122"/>
              </a:rPr>
              <a:t>方案调研</a:t>
            </a:r>
          </a:p>
        </p:txBody>
      </p:sp>
    </p:spTree>
    <p:extLst>
      <p:ext uri="{BB962C8B-B14F-4D97-AF65-F5344CB8AC3E}">
        <p14:creationId xmlns:p14="http://schemas.microsoft.com/office/powerpoint/2010/main" val="82570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167319-66AB-F811-461B-E5922DFCF256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目录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内容总览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7D001F-4226-9F58-15E5-C98CF63E0121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C63470-D897-8C81-F328-FFBF6A85F9D8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CONTENTS</a:t>
            </a:r>
            <a:endParaRPr lang="zh-CN" altLang="en-US" sz="1300">
              <a:solidFill>
                <a:srgbClr val="78787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A3711F-FB81-8DAA-089D-FC43834CAFFF}"/>
              </a:ext>
            </a:extLst>
          </p:cNvPr>
          <p:cNvSpPr/>
          <p:nvPr/>
        </p:nvSpPr>
        <p:spPr>
          <a:xfrm>
            <a:off x="1016000" y="1524000"/>
            <a:ext cx="8636000" cy="660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30C67DA-EAF5-1345-2259-7272DEE8B8C7}"/>
              </a:ext>
            </a:extLst>
          </p:cNvPr>
          <p:cNvSpPr/>
          <p:nvPr/>
        </p:nvSpPr>
        <p:spPr>
          <a:xfrm>
            <a:off x="1219200" y="14986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25D552-8B29-FE85-C8AC-1B21E08ED86F}"/>
              </a:ext>
            </a:extLst>
          </p:cNvPr>
          <p:cNvSpPr txBox="1"/>
          <p:nvPr/>
        </p:nvSpPr>
        <p:spPr>
          <a:xfrm>
            <a:off x="1879600" y="15240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62626"/>
                </a:solidFill>
                <a:latin typeface="微软雅黑" panose="020B0503020204020204" pitchFamily="34" charset="-122"/>
              </a:rPr>
              <a:t>电梯致辞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B9F7DC-9C30-C8BF-EA6C-80E39F2F6BBB}"/>
              </a:ext>
            </a:extLst>
          </p:cNvPr>
          <p:cNvSpPr txBox="1"/>
          <p:nvPr/>
        </p:nvSpPr>
        <p:spPr>
          <a:xfrm>
            <a:off x="5334000" y="1600200"/>
            <a:ext cx="406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核心结论与价值主张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3E2607-32F0-8541-D93F-7DC3D324C293}"/>
              </a:ext>
            </a:extLst>
          </p:cNvPr>
          <p:cNvSpPr/>
          <p:nvPr/>
        </p:nvSpPr>
        <p:spPr>
          <a:xfrm>
            <a:off x="1016000" y="2387600"/>
            <a:ext cx="8636000" cy="660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06D17AC-D97D-A964-79D5-F2855D1BE6D8}"/>
              </a:ext>
            </a:extLst>
          </p:cNvPr>
          <p:cNvSpPr/>
          <p:nvPr/>
        </p:nvSpPr>
        <p:spPr>
          <a:xfrm>
            <a:off x="1219200" y="23622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BCB95B-0096-67AA-A7F7-A8CB915FAD68}"/>
              </a:ext>
            </a:extLst>
          </p:cNvPr>
          <p:cNvSpPr txBox="1"/>
          <p:nvPr/>
        </p:nvSpPr>
        <p:spPr>
          <a:xfrm>
            <a:off x="1879600" y="23876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62626"/>
                </a:solidFill>
                <a:latin typeface="微软雅黑" panose="020B0503020204020204" pitchFamily="34" charset="-122"/>
              </a:rPr>
              <a:t>主流共识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9D6EF6-6FC1-7D70-DD3C-3943D9292D09}"/>
              </a:ext>
            </a:extLst>
          </p:cNvPr>
          <p:cNvSpPr txBox="1"/>
          <p:nvPr/>
        </p:nvSpPr>
        <p:spPr>
          <a:xfrm>
            <a:off x="5334000" y="2463800"/>
            <a:ext cx="406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核心原理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标准结论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应用范式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0AE2267-4F57-C450-B736-7B8B0DB4DC39}"/>
              </a:ext>
            </a:extLst>
          </p:cNvPr>
          <p:cNvSpPr/>
          <p:nvPr/>
        </p:nvSpPr>
        <p:spPr>
          <a:xfrm>
            <a:off x="1016000" y="3251200"/>
            <a:ext cx="8636000" cy="660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B12CDA9-08BF-890D-E7B0-D72FA32421F9}"/>
              </a:ext>
            </a:extLst>
          </p:cNvPr>
          <p:cNvSpPr/>
          <p:nvPr/>
        </p:nvSpPr>
        <p:spPr>
          <a:xfrm>
            <a:off x="1219200" y="32258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5A28DF-46A3-F594-138D-3624F2A07E75}"/>
              </a:ext>
            </a:extLst>
          </p:cNvPr>
          <p:cNvSpPr txBox="1"/>
          <p:nvPr/>
        </p:nvSpPr>
        <p:spPr>
          <a:xfrm>
            <a:off x="1879600" y="32512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62626"/>
                </a:solidFill>
                <a:latin typeface="微软雅黑" panose="020B0503020204020204" pitchFamily="34" charset="-122"/>
              </a:rPr>
              <a:t>争议与误区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E6B71E-63E8-6F09-EF03-4DAB006147D5}"/>
              </a:ext>
            </a:extLst>
          </p:cNvPr>
          <p:cNvSpPr txBox="1"/>
          <p:nvPr/>
        </p:nvSpPr>
        <p:spPr>
          <a:xfrm>
            <a:off x="5334000" y="3327400"/>
            <a:ext cx="406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学术争议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大众认知误区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ED90FD-09CC-E2FE-D6D8-738234F065F5}"/>
              </a:ext>
            </a:extLst>
          </p:cNvPr>
          <p:cNvSpPr/>
          <p:nvPr/>
        </p:nvSpPr>
        <p:spPr>
          <a:xfrm>
            <a:off x="1016000" y="4114800"/>
            <a:ext cx="8636000" cy="660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11F2FAF-9BF4-5510-D4D7-78DFBB138CA9}"/>
              </a:ext>
            </a:extLst>
          </p:cNvPr>
          <p:cNvSpPr/>
          <p:nvPr/>
        </p:nvSpPr>
        <p:spPr>
          <a:xfrm>
            <a:off x="1219200" y="40894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6BDA55-86E8-BA55-AF52-2F99388A4F79}"/>
              </a:ext>
            </a:extLst>
          </p:cNvPr>
          <p:cNvSpPr txBox="1"/>
          <p:nvPr/>
        </p:nvSpPr>
        <p:spPr>
          <a:xfrm>
            <a:off x="1879600" y="41148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62626"/>
                </a:solidFill>
                <a:latin typeface="微软雅黑" panose="020B0503020204020204" pitchFamily="34" charset="-122"/>
              </a:rPr>
              <a:t>历史时间线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B236C8-0E52-4C2A-E8B1-CCA9F3C2C9B6}"/>
              </a:ext>
            </a:extLst>
          </p:cNvPr>
          <p:cNvSpPr txBox="1"/>
          <p:nvPr/>
        </p:nvSpPr>
        <p:spPr>
          <a:xfrm>
            <a:off x="5334000" y="4191000"/>
            <a:ext cx="406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国际奠基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中国本土突破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2CBF5FB-0330-67B9-3034-CDD7C87B93E8}"/>
              </a:ext>
            </a:extLst>
          </p:cNvPr>
          <p:cNvSpPr/>
          <p:nvPr/>
        </p:nvSpPr>
        <p:spPr>
          <a:xfrm>
            <a:off x="1016000" y="4978400"/>
            <a:ext cx="8636000" cy="660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387E561-9A1E-8346-F3DC-971755126A8B}"/>
              </a:ext>
            </a:extLst>
          </p:cNvPr>
          <p:cNvSpPr/>
          <p:nvPr/>
        </p:nvSpPr>
        <p:spPr>
          <a:xfrm>
            <a:off x="1219200" y="4953000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5</a:t>
            </a:r>
            <a:endParaRPr lang="zh-CN" altLang="en-US" sz="16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E46BF4-41BB-D8BB-9074-42EF34CD87BA}"/>
              </a:ext>
            </a:extLst>
          </p:cNvPr>
          <p:cNvSpPr txBox="1"/>
          <p:nvPr/>
        </p:nvSpPr>
        <p:spPr>
          <a:xfrm>
            <a:off x="1879600" y="4978400"/>
            <a:ext cx="330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62626"/>
                </a:solidFill>
                <a:latin typeface="微软雅黑" panose="020B0503020204020204" pitchFamily="34" charset="-122"/>
              </a:rPr>
              <a:t>真实应用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B70E8A-9BDA-9D37-73A0-70B39512335A}"/>
              </a:ext>
            </a:extLst>
          </p:cNvPr>
          <p:cNvSpPr txBox="1"/>
          <p:nvPr/>
        </p:nvSpPr>
        <p:spPr>
          <a:xfrm>
            <a:off x="5334000" y="5054600"/>
            <a:ext cx="406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三个落地场景</a:t>
            </a:r>
          </a:p>
        </p:txBody>
      </p:sp>
    </p:spTree>
    <p:extLst>
      <p:ext uri="{BB962C8B-B14F-4D97-AF65-F5344CB8AC3E}">
        <p14:creationId xmlns:p14="http://schemas.microsoft.com/office/powerpoint/2010/main" val="32597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60D959-0D0C-89F2-E0B8-1A5CAA9998B2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电梯致辞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核心结论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19932C-311A-9583-1F9F-46FC9E019421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1859E1-5C62-3DC9-4E33-6DF78E174FAD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30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秒讲清楚余弦相似度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954126-7D01-90E0-A7F2-A08305DFB440}"/>
              </a:ext>
            </a:extLst>
          </p:cNvPr>
          <p:cNvSpPr txBox="1"/>
          <p:nvPr/>
        </p:nvSpPr>
        <p:spPr>
          <a:xfrm>
            <a:off x="762000" y="13716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F4E79"/>
                </a:solidFill>
                <a:latin typeface="微软雅黑" panose="020B0503020204020204" pitchFamily="34" charset="-122"/>
              </a:rPr>
              <a:t>解决什么问题？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419078-1287-6A5E-C44B-308A5324BA7A}"/>
              </a:ext>
            </a:extLst>
          </p:cNvPr>
          <p:cNvSpPr txBox="1"/>
          <p:nvPr/>
        </p:nvSpPr>
        <p:spPr>
          <a:xfrm>
            <a:off x="762000" y="1803400"/>
            <a:ext cx="508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当数值大小不重要、方向或趋势才重要时，如何量化「像不像」。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9CFD26-61D3-823D-6C1C-D2F26F975030}"/>
              </a:ext>
            </a:extLst>
          </p:cNvPr>
          <p:cNvSpPr txBox="1"/>
          <p:nvPr/>
        </p:nvSpPr>
        <p:spPr>
          <a:xfrm>
            <a:off x="762000" y="27178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F4E79"/>
                </a:solidFill>
                <a:latin typeface="微软雅黑" panose="020B0503020204020204" pitchFamily="34" charset="-122"/>
              </a:rPr>
              <a:t>核心价值是什么？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B9AE82-1C24-BDAF-2393-9481565CB05D}"/>
              </a:ext>
            </a:extLst>
          </p:cNvPr>
          <p:cNvSpPr txBox="1"/>
          <p:nvPr/>
        </p:nvSpPr>
        <p:spPr>
          <a:xfrm>
            <a:off x="762000" y="3149600"/>
            <a:ext cx="508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尺度不变性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——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只认方向、不看长短，天然适配文本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图像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行为的高维向量比较。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4415D62-7213-95DE-68ED-554B0780895F}"/>
              </a:ext>
            </a:extLst>
          </p:cNvPr>
          <p:cNvSpPr/>
          <p:nvPr/>
        </p:nvSpPr>
        <p:spPr>
          <a:xfrm>
            <a:off x="6350000" y="1371600"/>
            <a:ext cx="5080000" cy="2667000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8CBAD7-194E-5134-C348-A9BA4E028F1B}"/>
              </a:ext>
            </a:extLst>
          </p:cNvPr>
          <p:cNvSpPr txBox="1"/>
          <p:nvPr/>
        </p:nvSpPr>
        <p:spPr>
          <a:xfrm>
            <a:off x="6731000" y="1651000"/>
            <a:ext cx="431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ED7D31"/>
                </a:solidFill>
                <a:latin typeface="微软雅黑" panose="020B0503020204020204" pitchFamily="34" charset="-122"/>
              </a:rPr>
              <a:t>一句话结论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FD57E7-D3D8-40F0-2506-CAF3136D84CE}"/>
              </a:ext>
            </a:extLst>
          </p:cNvPr>
          <p:cNvSpPr txBox="1"/>
          <p:nvPr/>
        </p:nvSpPr>
        <p:spPr>
          <a:xfrm>
            <a:off x="6731000" y="2159000"/>
            <a:ext cx="4318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余弦相似度是现代搜索引擎、推荐系统与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AI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语义理解中「判断两样东西是否相似」的默认标尺。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787334-F490-B75C-2567-B5337D18EC61}"/>
              </a:ext>
            </a:extLst>
          </p:cNvPr>
          <p:cNvSpPr txBox="1"/>
          <p:nvPr/>
        </p:nvSpPr>
        <p:spPr>
          <a:xfrm>
            <a:off x="762000" y="42672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F4E79"/>
                </a:solidFill>
                <a:latin typeface="微软雅黑" panose="020B0503020204020204" pitchFamily="34" charset="-122"/>
              </a:rPr>
              <a:t>取值范围  −</a:t>
            </a:r>
            <a:r>
              <a:rPr lang="en-US" altLang="zh-CN" sz="1500" b="1">
                <a:solidFill>
                  <a:srgbClr val="1F4E79"/>
                </a:solidFill>
                <a:latin typeface="微软雅黑" panose="020B0503020204020204" pitchFamily="34" charset="-122"/>
              </a:rPr>
              <a:t>1 → 1</a:t>
            </a:r>
            <a:endParaRPr lang="zh-CN" altLang="en-US"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C696DA-DA90-0279-9C47-8F56E09A80C4}"/>
              </a:ext>
            </a:extLst>
          </p:cNvPr>
          <p:cNvSpPr/>
          <p:nvPr/>
        </p:nvSpPr>
        <p:spPr>
          <a:xfrm>
            <a:off x="762000" y="4800600"/>
            <a:ext cx="5080000" cy="127000"/>
          </a:xfrm>
          <a:prstGeom prst="rect">
            <a:avLst/>
          </a:prstGeom>
          <a:solidFill>
            <a:srgbClr val="CDD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D1D060-24C9-7C0F-04D6-93A612D5867B}"/>
              </a:ext>
            </a:extLst>
          </p:cNvPr>
          <p:cNvSpPr/>
          <p:nvPr/>
        </p:nvSpPr>
        <p:spPr>
          <a:xfrm>
            <a:off x="3302000" y="4800600"/>
            <a:ext cx="2540000" cy="127000"/>
          </a:xfrm>
          <a:prstGeom prst="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EEEC59-BC3B-CA74-0AE6-6FDEDFB303C3}"/>
              </a:ext>
            </a:extLst>
          </p:cNvPr>
          <p:cNvSpPr txBox="1"/>
          <p:nvPr/>
        </p:nvSpPr>
        <p:spPr>
          <a:xfrm>
            <a:off x="609600" y="50038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C0504D"/>
                </a:solidFill>
                <a:latin typeface="微软雅黑" panose="020B0503020204020204" pitchFamily="34" charset="-122"/>
              </a:rPr>
              <a:t>-1</a:t>
            </a:r>
            <a:endParaRPr lang="zh-CN" altLang="en-US" sz="1300" b="1">
              <a:solidFill>
                <a:srgbClr val="C050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166AFD-7911-8202-B7DD-02E34819DD68}"/>
              </a:ext>
            </a:extLst>
          </p:cNvPr>
          <p:cNvSpPr txBox="1"/>
          <p:nvPr/>
        </p:nvSpPr>
        <p:spPr>
          <a:xfrm>
            <a:off x="3175000" y="5003800"/>
            <a:ext cx="76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787878"/>
                </a:solidFill>
                <a:latin typeface="微软雅黑" panose="020B0503020204020204" pitchFamily="34" charset="-122"/>
              </a:rPr>
              <a:t>0</a:t>
            </a:r>
            <a:endParaRPr lang="zh-CN" altLang="en-US" sz="1300" b="1">
              <a:solidFill>
                <a:srgbClr val="787878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BB3F816-8F2F-13A0-9434-A0FD5D4047DA}"/>
              </a:ext>
            </a:extLst>
          </p:cNvPr>
          <p:cNvSpPr txBox="1"/>
          <p:nvPr/>
        </p:nvSpPr>
        <p:spPr>
          <a:xfrm>
            <a:off x="5080000" y="50038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70AD47"/>
                </a:solidFill>
                <a:latin typeface="微软雅黑" panose="020B0503020204020204" pitchFamily="34" charset="-122"/>
              </a:rPr>
              <a:t>1</a:t>
            </a:r>
            <a:endParaRPr lang="zh-CN" altLang="en-US" sz="1300" b="1">
              <a:solidFill>
                <a:srgbClr val="70AD4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62FFF31-B121-59BA-73A5-85A8C4FB952F}"/>
              </a:ext>
            </a:extLst>
          </p:cNvPr>
          <p:cNvSpPr txBox="1"/>
          <p:nvPr/>
        </p:nvSpPr>
        <p:spPr>
          <a:xfrm>
            <a:off x="254000" y="53340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C0504D"/>
                </a:solidFill>
                <a:latin typeface="微软雅黑" panose="020B0503020204020204" pitchFamily="34" charset="-122"/>
              </a:rPr>
              <a:t>方向相反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8A735F-07A4-6901-0169-BF00143362D5}"/>
              </a:ext>
            </a:extLst>
          </p:cNvPr>
          <p:cNvSpPr txBox="1"/>
          <p:nvPr/>
        </p:nvSpPr>
        <p:spPr>
          <a:xfrm>
            <a:off x="2946400" y="5334000"/>
            <a:ext cx="121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787878"/>
                </a:solidFill>
                <a:latin typeface="微软雅黑" panose="020B0503020204020204" pitchFamily="34" charset="-122"/>
              </a:rPr>
              <a:t>垂直</a:t>
            </a:r>
            <a:r>
              <a:rPr lang="en-US" altLang="zh-CN" sz="1100">
                <a:solidFill>
                  <a:srgbClr val="787878"/>
                </a:solidFill>
                <a:latin typeface="微软雅黑" panose="020B0503020204020204" pitchFamily="34" charset="-122"/>
              </a:rPr>
              <a:t>·</a:t>
            </a:r>
            <a:r>
              <a:rPr lang="zh-CN" altLang="en-US" sz="1100">
                <a:solidFill>
                  <a:srgbClr val="787878"/>
                </a:solidFill>
                <a:latin typeface="微软雅黑" panose="020B0503020204020204" pitchFamily="34" charset="-122"/>
              </a:rPr>
              <a:t>无关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CAF93A-459A-1CBA-3E80-DDFE789F6E83}"/>
              </a:ext>
            </a:extLst>
          </p:cNvPr>
          <p:cNvSpPr txBox="1"/>
          <p:nvPr/>
        </p:nvSpPr>
        <p:spPr>
          <a:xfrm>
            <a:off x="4826000" y="5334000"/>
            <a:ext cx="152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70AD47"/>
                </a:solidFill>
                <a:latin typeface="微软雅黑" panose="020B0503020204020204" pitchFamily="34" charset="-122"/>
              </a:rPr>
              <a:t>方向一致</a:t>
            </a:r>
          </a:p>
        </p:txBody>
      </p:sp>
    </p:spTree>
    <p:extLst>
      <p:ext uri="{BB962C8B-B14F-4D97-AF65-F5344CB8AC3E}">
        <p14:creationId xmlns:p14="http://schemas.microsoft.com/office/powerpoint/2010/main" val="63555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BCD300-CC5D-1B05-6875-FD9E862DF22D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核心概念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用夹角衡量相似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6E14CA-470C-C7B5-787E-97C0E21EA492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000EF0-AAC9-9E66-3DF7-5AACB3EA5203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两条箭头的夹角越小，方向越一致，越「相似」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0A276F9-AC0F-F18A-E108-9CF3001DF2D2}"/>
              </a:ext>
            </a:extLst>
          </p:cNvPr>
          <p:cNvSpPr/>
          <p:nvPr/>
        </p:nvSpPr>
        <p:spPr>
          <a:xfrm>
            <a:off x="1727200" y="3759200"/>
            <a:ext cx="101600" cy="101600"/>
          </a:xfrm>
          <a:prstGeom prst="ellipse">
            <a:avLst/>
          </a:prstGeom>
          <a:solidFill>
            <a:srgbClr val="26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微软雅黑" panose="020B0503020204020204" pitchFamily="34" charset="-122"/>
              </a:rPr>
              <a:t>O</a:t>
            </a:r>
            <a:endParaRPr lang="zh-CN" altLang="en-US"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D58F744-1116-6748-34D0-086C54A9A804}"/>
              </a:ext>
            </a:extLst>
          </p:cNvPr>
          <p:cNvCxnSpPr/>
          <p:nvPr/>
        </p:nvCxnSpPr>
        <p:spPr>
          <a:xfrm>
            <a:off x="1778000" y="3810000"/>
            <a:ext cx="2794000" cy="0"/>
          </a:xfrm>
          <a:prstGeom prst="line">
            <a:avLst/>
          </a:prstGeom>
          <a:ln w="50800">
            <a:solidFill>
              <a:srgbClr val="2E74B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17BA5C-F8CC-8763-48CB-5B435F359943}"/>
              </a:ext>
            </a:extLst>
          </p:cNvPr>
          <p:cNvCxnSpPr/>
          <p:nvPr/>
        </p:nvCxnSpPr>
        <p:spPr>
          <a:xfrm flipV="1">
            <a:off x="1778000" y="1905000"/>
            <a:ext cx="2032000" cy="1905000"/>
          </a:xfrm>
          <a:prstGeom prst="line">
            <a:avLst/>
          </a:prstGeom>
          <a:ln w="50800">
            <a:solidFill>
              <a:srgbClr val="ED7D3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22E3AF-CB02-61B0-296A-115854999C4D}"/>
              </a:ext>
            </a:extLst>
          </p:cNvPr>
          <p:cNvSpPr txBox="1"/>
          <p:nvPr/>
        </p:nvSpPr>
        <p:spPr>
          <a:xfrm>
            <a:off x="3810000" y="39116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2E74B5"/>
                </a:solidFill>
                <a:latin typeface="微软雅黑" panose="020B0503020204020204" pitchFamily="34" charset="-122"/>
              </a:rPr>
              <a:t>向量 </a:t>
            </a:r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A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148110-92F3-1123-F711-055C888D8850}"/>
              </a:ext>
            </a:extLst>
          </p:cNvPr>
          <p:cNvSpPr txBox="1"/>
          <p:nvPr/>
        </p:nvSpPr>
        <p:spPr>
          <a:xfrm>
            <a:off x="3403600" y="16510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D7D31"/>
                </a:solidFill>
                <a:latin typeface="微软雅黑" panose="020B0503020204020204" pitchFamily="34" charset="-122"/>
              </a:rPr>
              <a:t>向量 </a:t>
            </a:r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B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EB363-62EE-554C-9F2E-FA552E9247CA}"/>
              </a:ext>
            </a:extLst>
          </p:cNvPr>
          <p:cNvSpPr txBox="1"/>
          <p:nvPr/>
        </p:nvSpPr>
        <p:spPr>
          <a:xfrm>
            <a:off x="2184400" y="3327400"/>
            <a:ext cx="50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l-GR" altLang="zh-CN" sz="2000" b="1">
                <a:solidFill>
                  <a:srgbClr val="ED7D31"/>
                </a:solidFill>
                <a:latin typeface="微软雅黑" panose="020B0503020204020204" pitchFamily="34" charset="-122"/>
              </a:rPr>
              <a:t>θ</a:t>
            </a:r>
            <a:endParaRPr lang="zh-CN" altLang="en-US" sz="20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77803A-1FA0-DE65-2B7F-2399540EF916}"/>
              </a:ext>
            </a:extLst>
          </p:cNvPr>
          <p:cNvSpPr txBox="1"/>
          <p:nvPr/>
        </p:nvSpPr>
        <p:spPr>
          <a:xfrm>
            <a:off x="1143000" y="45720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夹角 </a:t>
            </a:r>
            <a:r>
              <a:rPr lang="el-GR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θ 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越小 → </a:t>
            </a:r>
            <a:r>
              <a:rPr lang="en-US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cos </a:t>
            </a:r>
            <a:r>
              <a:rPr lang="el-GR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θ 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越接近 </a:t>
            </a:r>
            <a:r>
              <a:rPr lang="en-US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1 → 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越相似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0569B9F-DCD0-56D8-BA44-73376AF29A09}"/>
              </a:ext>
            </a:extLst>
          </p:cNvPr>
          <p:cNvSpPr/>
          <p:nvPr/>
        </p:nvSpPr>
        <p:spPr>
          <a:xfrm>
            <a:off x="5969000" y="1371600"/>
            <a:ext cx="5207000" cy="939800"/>
          </a:xfrm>
          <a:prstGeom prst="roundRect">
            <a:avLst>
              <a:gd name="adj" fmla="val 7000"/>
            </a:avLst>
          </a:prstGeom>
          <a:solidFill>
            <a:srgbClr val="DCE6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A13D2E-C5FB-3D11-156A-8A118D2F97D0}"/>
              </a:ext>
            </a:extLst>
          </p:cNvPr>
          <p:cNvSpPr txBox="1"/>
          <p:nvPr/>
        </p:nvSpPr>
        <p:spPr>
          <a:xfrm>
            <a:off x="5969000" y="1625600"/>
            <a:ext cx="520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700" b="1">
                <a:solidFill>
                  <a:srgbClr val="1F4E79"/>
                </a:solidFill>
                <a:latin typeface="微软雅黑" panose="020B0503020204020204" pitchFamily="34" charset="-122"/>
              </a:rPr>
              <a:t>cos(</a:t>
            </a:r>
            <a:r>
              <a:rPr lang="el-GR" altLang="zh-CN" sz="1700" b="1">
                <a:solidFill>
                  <a:srgbClr val="1F4E79"/>
                </a:solidFill>
                <a:latin typeface="微软雅黑" panose="020B0503020204020204" pitchFamily="34" charset="-122"/>
              </a:rPr>
              <a:t>θ)  =  </a:t>
            </a:r>
            <a:r>
              <a:rPr lang="en-US" altLang="zh-CN" sz="1700" b="1">
                <a:solidFill>
                  <a:srgbClr val="1F4E79"/>
                </a:solidFill>
                <a:latin typeface="微软雅黑" panose="020B0503020204020204" pitchFamily="34" charset="-122"/>
              </a:rPr>
              <a:t>A·B / (|A| × |B|)</a:t>
            </a:r>
            <a:endParaRPr lang="zh-CN" altLang="en-US" sz="17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75311A-A62D-380A-58CA-7506FDE05046}"/>
              </a:ext>
            </a:extLst>
          </p:cNvPr>
          <p:cNvSpPr txBox="1"/>
          <p:nvPr/>
        </p:nvSpPr>
        <p:spPr>
          <a:xfrm>
            <a:off x="5969000" y="23876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787878"/>
                </a:solidFill>
                <a:latin typeface="微软雅黑" panose="020B0503020204020204" pitchFamily="34" charset="-122"/>
              </a:rPr>
              <a:t>即：两个向量的点积 </a:t>
            </a:r>
            <a:r>
              <a:rPr lang="en-US" altLang="zh-CN" sz="1200">
                <a:solidFill>
                  <a:srgbClr val="787878"/>
                </a:solidFill>
                <a:latin typeface="微软雅黑" panose="020B0503020204020204" pitchFamily="34" charset="-122"/>
              </a:rPr>
              <a:t>÷ </a:t>
            </a:r>
            <a:r>
              <a:rPr lang="zh-CN" altLang="en-US" sz="1200">
                <a:solidFill>
                  <a:srgbClr val="787878"/>
                </a:solidFill>
                <a:latin typeface="微软雅黑" panose="020B0503020204020204" pitchFamily="34" charset="-122"/>
              </a:rPr>
              <a:t>长度之积，只留「方向」信息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FA9317-C606-808D-2BA0-06E0F57C0487}"/>
              </a:ext>
            </a:extLst>
          </p:cNvPr>
          <p:cNvSpPr txBox="1"/>
          <p:nvPr/>
        </p:nvSpPr>
        <p:spPr>
          <a:xfrm>
            <a:off x="5969000" y="2997200"/>
            <a:ext cx="520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1F4E79"/>
                </a:solidFill>
                <a:latin typeface="微软雅黑" panose="020B0503020204020204" pitchFamily="34" charset="-122"/>
              </a:rPr>
              <a:t>cos </a:t>
            </a:r>
            <a:r>
              <a:rPr lang="zh-CN" altLang="en-US" sz="1400" b="1">
                <a:solidFill>
                  <a:srgbClr val="1F4E79"/>
                </a:solidFill>
                <a:latin typeface="微软雅黑" panose="020B0503020204020204" pitchFamily="34" charset="-122"/>
              </a:rPr>
              <a:t>取值与语义关系（示意）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C9F9DC-492E-E7FE-C198-759C189E0517}"/>
              </a:ext>
            </a:extLst>
          </p:cNvPr>
          <p:cNvSpPr/>
          <p:nvPr/>
        </p:nvSpPr>
        <p:spPr>
          <a:xfrm>
            <a:off x="5969000" y="5588000"/>
            <a:ext cx="5207000" cy="38100"/>
          </a:xfrm>
          <a:prstGeom prst="rect">
            <a:avLst/>
          </a:prstGeom>
          <a:solidFill>
            <a:srgbClr val="CDD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7C3024-1AB6-671C-FC6E-E47C4D65E25B}"/>
              </a:ext>
            </a:extLst>
          </p:cNvPr>
          <p:cNvSpPr/>
          <p:nvPr/>
        </p:nvSpPr>
        <p:spPr>
          <a:xfrm>
            <a:off x="6350000" y="5588000"/>
            <a:ext cx="508000" cy="762000"/>
          </a:xfrm>
          <a:prstGeom prst="rect">
            <a:avLst/>
          </a:prstGeom>
          <a:solidFill>
            <a:srgbClr val="C050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DE94AC-DC9D-4AAD-3856-DEA17101BBAE}"/>
              </a:ext>
            </a:extLst>
          </p:cNvPr>
          <p:cNvSpPr/>
          <p:nvPr/>
        </p:nvSpPr>
        <p:spPr>
          <a:xfrm>
            <a:off x="8128000" y="5537200"/>
            <a:ext cx="508000" cy="50800"/>
          </a:xfrm>
          <a:prstGeom prst="rect">
            <a:avLst/>
          </a:prstGeom>
          <a:solidFill>
            <a:srgbClr val="CDD2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944DB5-E9F8-97C8-5BB3-FF66C339993D}"/>
              </a:ext>
            </a:extLst>
          </p:cNvPr>
          <p:cNvSpPr/>
          <p:nvPr/>
        </p:nvSpPr>
        <p:spPr>
          <a:xfrm>
            <a:off x="9525000" y="5207000"/>
            <a:ext cx="508000" cy="381000"/>
          </a:xfrm>
          <a:prstGeom prst="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41CD01-0091-3170-4B9E-62B833FE6E84}"/>
              </a:ext>
            </a:extLst>
          </p:cNvPr>
          <p:cNvSpPr/>
          <p:nvPr/>
        </p:nvSpPr>
        <p:spPr>
          <a:xfrm>
            <a:off x="10922000" y="4826000"/>
            <a:ext cx="508000" cy="762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CBB4A9-4039-431E-A81A-0CE590D62334}"/>
              </a:ext>
            </a:extLst>
          </p:cNvPr>
          <p:cNvSpPr txBox="1"/>
          <p:nvPr/>
        </p:nvSpPr>
        <p:spPr>
          <a:xfrm>
            <a:off x="6273800" y="5664200"/>
            <a:ext cx="66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C0504D"/>
                </a:solidFill>
                <a:latin typeface="微软雅黑" panose="020B0503020204020204" pitchFamily="34" charset="-122"/>
              </a:rPr>
              <a:t>-1</a:t>
            </a:r>
            <a:endParaRPr lang="zh-CN" altLang="en-US" sz="1200" b="1">
              <a:solidFill>
                <a:srgbClr val="C050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C406FA-9EBD-64B0-DED9-B049C94215F8}"/>
              </a:ext>
            </a:extLst>
          </p:cNvPr>
          <p:cNvSpPr txBox="1"/>
          <p:nvPr/>
        </p:nvSpPr>
        <p:spPr>
          <a:xfrm>
            <a:off x="8128000" y="56642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787878"/>
                </a:solidFill>
                <a:latin typeface="微软雅黑" panose="020B0503020204020204" pitchFamily="34" charset="-122"/>
              </a:rPr>
              <a:t>0</a:t>
            </a:r>
            <a:endParaRPr lang="zh-CN" altLang="en-US" sz="1200" b="1">
              <a:solidFill>
                <a:srgbClr val="78787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7C6FBF-421C-AC0A-671F-EC255EC74EF8}"/>
              </a:ext>
            </a:extLst>
          </p:cNvPr>
          <p:cNvSpPr txBox="1"/>
          <p:nvPr/>
        </p:nvSpPr>
        <p:spPr>
          <a:xfrm>
            <a:off x="9448800" y="5664200"/>
            <a:ext cx="660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2E74B5"/>
                </a:solidFill>
                <a:latin typeface="微软雅黑" panose="020B0503020204020204" pitchFamily="34" charset="-122"/>
              </a:rPr>
              <a:t>0.5</a:t>
            </a:r>
            <a:endParaRPr lang="zh-CN" altLang="en-US" sz="12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D03E9CC-D4A1-A1D3-A434-F01FC98AFB46}"/>
              </a:ext>
            </a:extLst>
          </p:cNvPr>
          <p:cNvSpPr txBox="1"/>
          <p:nvPr/>
        </p:nvSpPr>
        <p:spPr>
          <a:xfrm>
            <a:off x="10947400" y="5664200"/>
            <a:ext cx="457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F4E79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7D6B4F-603D-4E8E-2CA2-42176F234DE8}"/>
              </a:ext>
            </a:extLst>
          </p:cNvPr>
          <p:cNvSpPr txBox="1"/>
          <p:nvPr/>
        </p:nvSpPr>
        <p:spPr>
          <a:xfrm>
            <a:off x="6248400" y="5943600"/>
            <a:ext cx="711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C0504D"/>
                </a:solidFill>
                <a:latin typeface="微软雅黑" panose="020B0503020204020204" pitchFamily="34" charset="-122"/>
              </a:rPr>
              <a:t>相反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E8AE8D0-AB57-8001-0C6D-949AC9709F28}"/>
              </a:ext>
            </a:extLst>
          </p:cNvPr>
          <p:cNvSpPr txBox="1"/>
          <p:nvPr/>
        </p:nvSpPr>
        <p:spPr>
          <a:xfrm>
            <a:off x="8051800" y="59436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787878"/>
                </a:solidFill>
                <a:latin typeface="微软雅黑" panose="020B0503020204020204" pitchFamily="34" charset="-122"/>
              </a:rPr>
              <a:t>无关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6961E6-3F6E-793A-B02B-C2B4E2B41E2F}"/>
              </a:ext>
            </a:extLst>
          </p:cNvPr>
          <p:cNvSpPr txBox="1"/>
          <p:nvPr/>
        </p:nvSpPr>
        <p:spPr>
          <a:xfrm>
            <a:off x="9423400" y="5943600"/>
            <a:ext cx="711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E74B5"/>
                </a:solidFill>
                <a:latin typeface="微软雅黑" panose="020B0503020204020204" pitchFamily="34" charset="-122"/>
              </a:rPr>
              <a:t>部分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BC466D-82FC-6DBB-887F-DDF011CF8A1C}"/>
              </a:ext>
            </a:extLst>
          </p:cNvPr>
          <p:cNvSpPr txBox="1"/>
          <p:nvPr/>
        </p:nvSpPr>
        <p:spPr>
          <a:xfrm>
            <a:off x="10871200" y="5943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1F4E79"/>
                </a:solidFill>
                <a:latin typeface="微软雅黑" panose="020B0503020204020204" pitchFamily="34" charset="-122"/>
              </a:rPr>
              <a:t>一致</a:t>
            </a:r>
          </a:p>
        </p:txBody>
      </p:sp>
    </p:spTree>
    <p:extLst>
      <p:ext uri="{BB962C8B-B14F-4D97-AF65-F5344CB8AC3E}">
        <p14:creationId xmlns:p14="http://schemas.microsoft.com/office/powerpoint/2010/main" val="256988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7C3B1E-D390-2827-FA5D-ECA3ED94D122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核心特性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尺度不变性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FCCD41-C191-0097-366C-5C3147001554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9E3F45-6806-91BC-B4CC-D463ECD2287E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只认方向，不认长短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——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与欧氏距离的本质区别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B1E7279-30F9-AED7-DF91-9848EE2835A2}"/>
              </a:ext>
            </a:extLst>
          </p:cNvPr>
          <p:cNvSpPr/>
          <p:nvPr/>
        </p:nvSpPr>
        <p:spPr>
          <a:xfrm>
            <a:off x="711200" y="1498600"/>
            <a:ext cx="5232400" cy="4191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6F532B-16A3-5391-0C4F-3726855CC4F4}"/>
              </a:ext>
            </a:extLst>
          </p:cNvPr>
          <p:cNvSpPr txBox="1"/>
          <p:nvPr/>
        </p:nvSpPr>
        <p:spPr>
          <a:xfrm>
            <a:off x="1066800" y="17780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F4E79"/>
                </a:solidFill>
                <a:latin typeface="微软雅黑" panose="020B0503020204020204" pitchFamily="34" charset="-122"/>
              </a:rPr>
              <a:t>余弦相似度 </a:t>
            </a:r>
            <a:r>
              <a:rPr lang="en-US" altLang="zh-CN" sz="17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700" b="1">
                <a:solidFill>
                  <a:srgbClr val="1F4E79"/>
                </a:solidFill>
                <a:latin typeface="微软雅黑" panose="020B0503020204020204" pitchFamily="34" charset="-122"/>
              </a:rPr>
              <a:t>只认方向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5F1F700-D6B9-6C5C-506F-A77F4B4A1B0A}"/>
              </a:ext>
            </a:extLst>
          </p:cNvPr>
          <p:cNvCxnSpPr/>
          <p:nvPr/>
        </p:nvCxnSpPr>
        <p:spPr>
          <a:xfrm>
            <a:off x="1524000" y="3175000"/>
            <a:ext cx="1270000" cy="0"/>
          </a:xfrm>
          <a:prstGeom prst="line">
            <a:avLst/>
          </a:prstGeom>
          <a:ln w="50800">
            <a:solidFill>
              <a:srgbClr val="2E74B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D37C920-3BED-727E-174F-F13111179EBD}"/>
              </a:ext>
            </a:extLst>
          </p:cNvPr>
          <p:cNvCxnSpPr/>
          <p:nvPr/>
        </p:nvCxnSpPr>
        <p:spPr>
          <a:xfrm>
            <a:off x="1524000" y="3175000"/>
            <a:ext cx="3556000" cy="0"/>
          </a:xfrm>
          <a:prstGeom prst="line">
            <a:avLst/>
          </a:prstGeom>
          <a:ln w="50800">
            <a:solidFill>
              <a:srgbClr val="2E74B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5DF9B7FB-D984-2298-E975-F91875603A1C}"/>
              </a:ext>
            </a:extLst>
          </p:cNvPr>
          <p:cNvSpPr/>
          <p:nvPr/>
        </p:nvSpPr>
        <p:spPr>
          <a:xfrm>
            <a:off x="1473200" y="3124200"/>
            <a:ext cx="101600" cy="101600"/>
          </a:xfrm>
          <a:prstGeom prst="ellipse">
            <a:avLst/>
          </a:prstGeom>
          <a:solidFill>
            <a:srgbClr val="26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BC2D6E-16B6-5396-6F62-2FFB96F367DC}"/>
              </a:ext>
            </a:extLst>
          </p:cNvPr>
          <p:cNvSpPr txBox="1"/>
          <p:nvPr/>
        </p:nvSpPr>
        <p:spPr>
          <a:xfrm>
            <a:off x="1905000" y="27686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787878"/>
                </a:solidFill>
                <a:latin typeface="微软雅黑" panose="020B0503020204020204" pitchFamily="34" charset="-122"/>
              </a:rPr>
              <a:t>长度不同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A22C54-3BA3-DE0C-9346-0182C3AC00B9}"/>
              </a:ext>
            </a:extLst>
          </p:cNvPr>
          <p:cNvSpPr txBox="1"/>
          <p:nvPr/>
        </p:nvSpPr>
        <p:spPr>
          <a:xfrm>
            <a:off x="1905000" y="3810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F4E79"/>
                </a:solidFill>
                <a:latin typeface="微软雅黑" panose="020B0503020204020204" pitchFamily="34" charset="-122"/>
              </a:rPr>
              <a:t>→ 方向相同 → </a:t>
            </a:r>
            <a:r>
              <a:rPr lang="en-US" altLang="zh-CN" sz="1500" b="1">
                <a:solidFill>
                  <a:srgbClr val="1F4E79"/>
                </a:solidFill>
                <a:latin typeface="微软雅黑" panose="020B0503020204020204" pitchFamily="34" charset="-122"/>
              </a:rPr>
              <a:t>cos = 1</a:t>
            </a:r>
            <a:endParaRPr lang="zh-CN" altLang="en-US" sz="1500" b="1">
              <a:solidFill>
                <a:srgbClr val="1F4E79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F47400-8585-C246-8BD9-9E9F41381272}"/>
              </a:ext>
            </a:extLst>
          </p:cNvPr>
          <p:cNvSpPr txBox="1"/>
          <p:nvPr/>
        </p:nvSpPr>
        <p:spPr>
          <a:xfrm>
            <a:off x="1066800" y="43180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787878"/>
                </a:solidFill>
                <a:latin typeface="微软雅黑" panose="020B0503020204020204" pitchFamily="34" charset="-122"/>
              </a:rPr>
              <a:t>长度（尺度）被完全忽略，只看夹角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C4FCC2-D25F-C55F-2F3A-F7AD78997240}"/>
              </a:ext>
            </a:extLst>
          </p:cNvPr>
          <p:cNvSpPr txBox="1"/>
          <p:nvPr/>
        </p:nvSpPr>
        <p:spPr>
          <a:xfrm>
            <a:off x="1066800" y="47244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结果：判定为「完全一致」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733907-09C2-1022-5177-3BFB305E9B18}"/>
              </a:ext>
            </a:extLst>
          </p:cNvPr>
          <p:cNvSpPr/>
          <p:nvPr/>
        </p:nvSpPr>
        <p:spPr>
          <a:xfrm>
            <a:off x="6248400" y="1498600"/>
            <a:ext cx="5232400" cy="4191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CEC389-2BC8-027A-F8E4-5B73AFDABC65}"/>
              </a:ext>
            </a:extLst>
          </p:cNvPr>
          <p:cNvSpPr txBox="1"/>
          <p:nvPr/>
        </p:nvSpPr>
        <p:spPr>
          <a:xfrm>
            <a:off x="6604000" y="17780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ED7D31"/>
                </a:solidFill>
                <a:latin typeface="微软雅黑" panose="020B0503020204020204" pitchFamily="34" charset="-122"/>
              </a:rPr>
              <a:t>欧氏距离 </a:t>
            </a:r>
            <a:r>
              <a:rPr lang="en-US" altLang="zh-CN" sz="1700" b="1">
                <a:solidFill>
                  <a:srgbClr val="ED7D31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700" b="1">
                <a:solidFill>
                  <a:srgbClr val="ED7D31"/>
                </a:solidFill>
                <a:latin typeface="微软雅黑" panose="020B0503020204020204" pitchFamily="34" charset="-122"/>
              </a:rPr>
              <a:t>认得长度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31BC2D7-30EA-4A23-E559-AF163921E568}"/>
              </a:ext>
            </a:extLst>
          </p:cNvPr>
          <p:cNvCxnSpPr/>
          <p:nvPr/>
        </p:nvCxnSpPr>
        <p:spPr>
          <a:xfrm>
            <a:off x="7061200" y="3175000"/>
            <a:ext cx="1270000" cy="0"/>
          </a:xfrm>
          <a:prstGeom prst="line">
            <a:avLst/>
          </a:prstGeom>
          <a:ln w="50800">
            <a:solidFill>
              <a:srgbClr val="ED7D3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D825A42-50EB-AEFD-CA49-570C62C3E4D2}"/>
              </a:ext>
            </a:extLst>
          </p:cNvPr>
          <p:cNvCxnSpPr/>
          <p:nvPr/>
        </p:nvCxnSpPr>
        <p:spPr>
          <a:xfrm>
            <a:off x="7061200" y="3175000"/>
            <a:ext cx="3556000" cy="0"/>
          </a:xfrm>
          <a:prstGeom prst="line">
            <a:avLst/>
          </a:prstGeom>
          <a:ln w="50800">
            <a:solidFill>
              <a:srgbClr val="ED7D3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8C955CA4-48D9-4205-68BB-E350BEC991AF}"/>
              </a:ext>
            </a:extLst>
          </p:cNvPr>
          <p:cNvSpPr/>
          <p:nvPr/>
        </p:nvSpPr>
        <p:spPr>
          <a:xfrm>
            <a:off x="7010400" y="3124200"/>
            <a:ext cx="101600" cy="101600"/>
          </a:xfrm>
          <a:prstGeom prst="ellipse">
            <a:avLst/>
          </a:prstGeom>
          <a:solidFill>
            <a:srgbClr val="26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1724C14-9A19-490B-E5D7-4A8DB6D5FC47}"/>
              </a:ext>
            </a:extLst>
          </p:cNvPr>
          <p:cNvSpPr txBox="1"/>
          <p:nvPr/>
        </p:nvSpPr>
        <p:spPr>
          <a:xfrm>
            <a:off x="7442200" y="27686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787878"/>
                </a:solidFill>
                <a:latin typeface="微软雅黑" panose="020B0503020204020204" pitchFamily="34" charset="-122"/>
              </a:rPr>
              <a:t>长度不同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E92841-BBC1-E94E-F3E0-C896EBE23F8C}"/>
              </a:ext>
            </a:extLst>
          </p:cNvPr>
          <p:cNvSpPr txBox="1"/>
          <p:nvPr/>
        </p:nvSpPr>
        <p:spPr>
          <a:xfrm>
            <a:off x="7061200" y="3810000"/>
            <a:ext cx="304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→ 端点相距很远 → 距离大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F80027-9FB1-A83A-9505-523CE068F0BA}"/>
              </a:ext>
            </a:extLst>
          </p:cNvPr>
          <p:cNvSpPr txBox="1"/>
          <p:nvPr/>
        </p:nvSpPr>
        <p:spPr>
          <a:xfrm>
            <a:off x="6604000" y="43180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787878"/>
                </a:solidFill>
                <a:latin typeface="微软雅黑" panose="020B0503020204020204" pitchFamily="34" charset="-122"/>
              </a:rPr>
              <a:t>长度差异被「算进去」，距离随尺度放大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A75ABD-8148-DCB1-767F-59F605C02E6A}"/>
              </a:ext>
            </a:extLst>
          </p:cNvPr>
          <p:cNvSpPr txBox="1"/>
          <p:nvPr/>
        </p:nvSpPr>
        <p:spPr>
          <a:xfrm>
            <a:off x="6604000" y="47244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结果：判定为「差别巨大」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57000-9DD7-5AB5-22E6-51EA5A77AC3F}"/>
              </a:ext>
            </a:extLst>
          </p:cNvPr>
          <p:cNvSpPr txBox="1"/>
          <p:nvPr/>
        </p:nvSpPr>
        <p:spPr>
          <a:xfrm>
            <a:off x="711200" y="5969000"/>
            <a:ext cx="10820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F4E79"/>
                </a:solidFill>
                <a:latin typeface="微软雅黑" panose="020B0503020204020204" pitchFamily="34" charset="-122"/>
              </a:rPr>
              <a:t>一句话：方向比较用余弦，长度比较用欧氏</a:t>
            </a:r>
          </a:p>
        </p:txBody>
      </p:sp>
    </p:spTree>
    <p:extLst>
      <p:ext uri="{BB962C8B-B14F-4D97-AF65-F5344CB8AC3E}">
        <p14:creationId xmlns:p14="http://schemas.microsoft.com/office/powerpoint/2010/main" val="316365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A3B375-FB46-FD18-1CD2-73B59BA7DE36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主流共识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三大标准结论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A4B3F7-187A-7A28-EBE5-3E90E1E65909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428184-9EAE-7CFB-EA13-C4F3C2C802F2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经过充分验证的等价关系与事实标准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FB35A87-5498-86B3-8091-00E880C6C68B}"/>
              </a:ext>
            </a:extLst>
          </p:cNvPr>
          <p:cNvSpPr/>
          <p:nvPr/>
        </p:nvSpPr>
        <p:spPr>
          <a:xfrm>
            <a:off x="711200" y="1651000"/>
            <a:ext cx="3403600" cy="3810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F41C39-EF7D-09C7-F057-63AECA931011}"/>
              </a:ext>
            </a:extLst>
          </p:cNvPr>
          <p:cNvSpPr/>
          <p:nvPr/>
        </p:nvSpPr>
        <p:spPr>
          <a:xfrm>
            <a:off x="711200" y="1651000"/>
            <a:ext cx="3403600" cy="101600"/>
          </a:xfrm>
          <a:prstGeom prst="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17DC02-1FF9-0D13-C677-2BE91FFC15AC}"/>
              </a:ext>
            </a:extLst>
          </p:cNvPr>
          <p:cNvSpPr txBox="1"/>
          <p:nvPr/>
        </p:nvSpPr>
        <p:spPr>
          <a:xfrm>
            <a:off x="1016000" y="19304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4E79"/>
                </a:solidFill>
                <a:latin typeface="微软雅黑" panose="020B0503020204020204" pitchFamily="34" charset="-122"/>
              </a:rPr>
              <a:t>① 等价于皮尔逊相关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051E3B-B1C6-CE47-97DD-952BFB7909C3}"/>
              </a:ext>
            </a:extLst>
          </p:cNvPr>
          <p:cNvSpPr txBox="1"/>
          <p:nvPr/>
        </p:nvSpPr>
        <p:spPr>
          <a:xfrm>
            <a:off x="1016000" y="24384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向量先做中心化（减均值）再算余弦，结果严格等于皮尔逊相关系数，是「趋势相似」判断的根基。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5A84B88-6FFB-22B9-296C-FC48A945B7B3}"/>
              </a:ext>
            </a:extLst>
          </p:cNvPr>
          <p:cNvSpPr/>
          <p:nvPr/>
        </p:nvSpPr>
        <p:spPr>
          <a:xfrm>
            <a:off x="4470400" y="1651000"/>
            <a:ext cx="3403600" cy="3810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7F50BD-4172-6231-2A3C-F0E17FAA4F22}"/>
              </a:ext>
            </a:extLst>
          </p:cNvPr>
          <p:cNvSpPr/>
          <p:nvPr/>
        </p:nvSpPr>
        <p:spPr>
          <a:xfrm>
            <a:off x="4470400" y="1651000"/>
            <a:ext cx="3403600" cy="101600"/>
          </a:xfrm>
          <a:prstGeom prst="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B23207-E549-0FB5-5402-F89A2C565791}"/>
              </a:ext>
            </a:extLst>
          </p:cNvPr>
          <p:cNvSpPr txBox="1"/>
          <p:nvPr/>
        </p:nvSpPr>
        <p:spPr>
          <a:xfrm>
            <a:off x="4775200" y="19304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4E79"/>
                </a:solidFill>
                <a:latin typeface="微软雅黑" panose="020B0503020204020204" pitchFamily="34" charset="-122"/>
              </a:rPr>
              <a:t>② 与欧氏距离可换算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915F66-4116-D2F4-EFA8-7DC2AD564818}"/>
              </a:ext>
            </a:extLst>
          </p:cNvPr>
          <p:cNvSpPr txBox="1"/>
          <p:nvPr/>
        </p:nvSpPr>
        <p:spPr>
          <a:xfrm>
            <a:off x="4775200" y="2438400"/>
            <a:ext cx="279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对 </a:t>
            </a:r>
            <a:r>
              <a:rPr lang="en-US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L2 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归一化后的向量：</a:t>
            </a:r>
            <a:r>
              <a:rPr lang="en-US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‖A−B‖² = 2 − 2·cos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，二者一一对应、等价。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608E09B-CFD2-0D50-BA25-FC841E304F2C}"/>
              </a:ext>
            </a:extLst>
          </p:cNvPr>
          <p:cNvSpPr/>
          <p:nvPr/>
        </p:nvSpPr>
        <p:spPr>
          <a:xfrm>
            <a:off x="8229600" y="1651000"/>
            <a:ext cx="3403600" cy="3810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A691A3-31F6-6D39-2501-F65DD93CBE56}"/>
              </a:ext>
            </a:extLst>
          </p:cNvPr>
          <p:cNvSpPr/>
          <p:nvPr/>
        </p:nvSpPr>
        <p:spPr>
          <a:xfrm>
            <a:off x="8229600" y="1651000"/>
            <a:ext cx="3403600" cy="101600"/>
          </a:xfrm>
          <a:prstGeom prst="rect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CB4F8B-ED1F-B4E0-CB33-8B93F0B016DE}"/>
              </a:ext>
            </a:extLst>
          </p:cNvPr>
          <p:cNvSpPr txBox="1"/>
          <p:nvPr/>
        </p:nvSpPr>
        <p:spPr>
          <a:xfrm>
            <a:off x="8534400" y="19304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F4E79"/>
                </a:solidFill>
                <a:latin typeface="微软雅黑" panose="020B0503020204020204" pitchFamily="34" charset="-122"/>
              </a:rPr>
              <a:t>③ 高维语义的默认度量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70FCE1-9452-5AC0-370D-6B27463C18F9}"/>
              </a:ext>
            </a:extLst>
          </p:cNvPr>
          <p:cNvSpPr txBox="1"/>
          <p:nvPr/>
        </p:nvSpPr>
        <p:spPr>
          <a:xfrm>
            <a:off x="8534400" y="24384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词向量、句向量等表示学习中，学术界与工业界默认用余弦度量语义相关性。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CD6B5D-AFB1-A970-2AF9-90E2BEB0EC01}"/>
              </a:ext>
            </a:extLst>
          </p:cNvPr>
          <p:cNvSpPr txBox="1"/>
          <p:nvPr/>
        </p:nvSpPr>
        <p:spPr>
          <a:xfrm>
            <a:off x="711200" y="5969000"/>
            <a:ext cx="10820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通用范式预览：信息检索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语义检索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推荐系统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文本去重聚类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相似度层</a:t>
            </a:r>
          </a:p>
        </p:txBody>
      </p:sp>
    </p:spTree>
    <p:extLst>
      <p:ext uri="{BB962C8B-B14F-4D97-AF65-F5344CB8AC3E}">
        <p14:creationId xmlns:p14="http://schemas.microsoft.com/office/powerpoint/2010/main" val="214300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0E7651-9436-D7AE-CD19-57ADDADBB250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主流共识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五大应用范式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E98D44-B6A7-F666-E2FB-9ABAE8B82252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FFDC45-BB50-CC4C-2FC0-0A01B660BDC8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从搜索引擎到推荐系统，都是「向量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余弦」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2955B-CA77-AD64-E337-3C8827CA7EE0}"/>
              </a:ext>
            </a:extLst>
          </p:cNvPr>
          <p:cNvSpPr txBox="1"/>
          <p:nvPr/>
        </p:nvSpPr>
        <p:spPr>
          <a:xfrm>
            <a:off x="889000" y="1625600"/>
            <a:ext cx="25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F20EAE-DDE4-CA77-2339-95E1EE14C6A3}"/>
              </a:ext>
            </a:extLst>
          </p:cNvPr>
          <p:cNvSpPr txBox="1"/>
          <p:nvPr/>
        </p:nvSpPr>
        <p:spPr>
          <a:xfrm>
            <a:off x="1193800" y="1625600"/>
            <a:ext cx="1010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信息检索：查询与文档表为 </a:t>
            </a:r>
            <a:r>
              <a:rPr lang="en-US" altLang="zh-CN" sz="1500">
                <a:solidFill>
                  <a:srgbClr val="262626"/>
                </a:solidFill>
                <a:latin typeface="微软雅黑" panose="020B0503020204020204" pitchFamily="34" charset="-122"/>
              </a:rPr>
              <a:t>TF-IDF </a:t>
            </a:r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权重向量，按余弦排序召回最相关结果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593385-B40D-6615-14A4-EBD8D22D8124}"/>
              </a:ext>
            </a:extLst>
          </p:cNvPr>
          <p:cNvSpPr txBox="1"/>
          <p:nvPr/>
        </p:nvSpPr>
        <p:spPr>
          <a:xfrm>
            <a:off x="889000" y="2336800"/>
            <a:ext cx="25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52EFF4-69DB-EB18-0528-DAEECA5FD10D}"/>
              </a:ext>
            </a:extLst>
          </p:cNvPr>
          <p:cNvSpPr txBox="1"/>
          <p:nvPr/>
        </p:nvSpPr>
        <p:spPr>
          <a:xfrm>
            <a:off x="1193800" y="2336800"/>
            <a:ext cx="1010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语义检索：预训练模型编码文本为向量，用余弦做近似最近邻（</a:t>
            </a:r>
            <a:r>
              <a:rPr lang="en-US" altLang="zh-CN" sz="1500">
                <a:solidFill>
                  <a:srgbClr val="262626"/>
                </a:solidFill>
                <a:latin typeface="微软雅黑" panose="020B0503020204020204" pitchFamily="34" charset="-122"/>
              </a:rPr>
              <a:t>ANN</a:t>
            </a:r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）检索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8F1C41-FCF6-6349-4B9D-07BFBF75C5C8}"/>
              </a:ext>
            </a:extLst>
          </p:cNvPr>
          <p:cNvSpPr txBox="1"/>
          <p:nvPr/>
        </p:nvSpPr>
        <p:spPr>
          <a:xfrm>
            <a:off x="889000" y="3048000"/>
            <a:ext cx="25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3CD8FD-4CF7-CFA8-1307-3C2DBE2B1C43}"/>
              </a:ext>
            </a:extLst>
          </p:cNvPr>
          <p:cNvSpPr txBox="1"/>
          <p:nvPr/>
        </p:nvSpPr>
        <p:spPr>
          <a:xfrm>
            <a:off x="1193800" y="3048000"/>
            <a:ext cx="1010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推荐系统：用户与商品表为隐因子向量，用余弦找「相似用户 </a:t>
            </a:r>
            <a:r>
              <a:rPr lang="en-US" altLang="zh-CN" sz="1500">
                <a:solidFill>
                  <a:srgbClr val="26262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相似商品」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8FD392-420A-D758-9FE3-BF8773096C59}"/>
              </a:ext>
            </a:extLst>
          </p:cNvPr>
          <p:cNvSpPr txBox="1"/>
          <p:nvPr/>
        </p:nvSpPr>
        <p:spPr>
          <a:xfrm>
            <a:off x="889000" y="3759200"/>
            <a:ext cx="25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E63A33-C215-A242-132D-7BCF527671DB}"/>
              </a:ext>
            </a:extLst>
          </p:cNvPr>
          <p:cNvSpPr txBox="1"/>
          <p:nvPr/>
        </p:nvSpPr>
        <p:spPr>
          <a:xfrm>
            <a:off x="1193800" y="3759200"/>
            <a:ext cx="1010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文本去重与聚类：余弦作为文本相似度度量，用于查重、聚类、相似问匹配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F84A8E-43A2-5DCF-1DEA-D7FF14D146F5}"/>
              </a:ext>
            </a:extLst>
          </p:cNvPr>
          <p:cNvSpPr txBox="1"/>
          <p:nvPr/>
        </p:nvSpPr>
        <p:spPr>
          <a:xfrm>
            <a:off x="889000" y="4470400"/>
            <a:ext cx="25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7B505B-DED8-50E4-255D-01CA652DBAC7}"/>
              </a:ext>
            </a:extLst>
          </p:cNvPr>
          <p:cNvSpPr txBox="1"/>
          <p:nvPr/>
        </p:nvSpPr>
        <p:spPr>
          <a:xfrm>
            <a:off x="1193800" y="4470400"/>
            <a:ext cx="10109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262626"/>
                </a:solidFill>
                <a:latin typeface="微软雅黑" panose="020B0503020204020204" pitchFamily="34" charset="-122"/>
              </a:rPr>
              <a:t>机器学习相似度层：人脸识别、图文匹配等任务中的打分函数或损失成分</a:t>
            </a:r>
          </a:p>
        </p:txBody>
      </p:sp>
    </p:spTree>
    <p:extLst>
      <p:ext uri="{BB962C8B-B14F-4D97-AF65-F5344CB8AC3E}">
        <p14:creationId xmlns:p14="http://schemas.microsoft.com/office/powerpoint/2010/main" val="75258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B88A0E-A7C8-995B-4D0E-866CC779CB4B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学术争议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尚未定论的问题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E0C0D7-8AA9-7A96-C9BF-35DD4970E212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C1786-CDAB-A2C9-3D02-B100A0840B78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仍在研究讨论，无统一标准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CB6E05-DCD7-3DBC-B7AA-37883E4F4BAD}"/>
              </a:ext>
            </a:extLst>
          </p:cNvPr>
          <p:cNvSpPr txBox="1"/>
          <p:nvPr/>
        </p:nvSpPr>
        <p:spPr>
          <a:xfrm>
            <a:off x="889000" y="16256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718121-51ED-3298-E27F-DEE8C693AA0F}"/>
              </a:ext>
            </a:extLst>
          </p:cNvPr>
          <p:cNvSpPr txBox="1"/>
          <p:nvPr/>
        </p:nvSpPr>
        <p:spPr>
          <a:xfrm>
            <a:off x="1193800" y="1625600"/>
            <a:ext cx="1010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丢掉「模长」是否总合理：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LLM 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注意力与需表达置信度的场景，长度可能携带语义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6B2143-1258-C471-6DF4-60D4F2C1E2E3}"/>
              </a:ext>
            </a:extLst>
          </p:cNvPr>
          <p:cNvSpPr txBox="1"/>
          <p:nvPr/>
        </p:nvSpPr>
        <p:spPr>
          <a:xfrm>
            <a:off x="889000" y="22860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3FF128-4B8B-E928-3CBB-6273871F4987}"/>
              </a:ext>
            </a:extLst>
          </p:cNvPr>
          <p:cNvSpPr txBox="1"/>
          <p:nvPr/>
        </p:nvSpPr>
        <p:spPr>
          <a:xfrm>
            <a:off x="1193800" y="2286000"/>
            <a:ext cx="1010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高维空间可靠性（维数灾难）：维度升高时随机向量夹角向 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90° 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集中，区分度下降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2C91CE-0064-1309-B8E1-1FF6EA01A9FD}"/>
              </a:ext>
            </a:extLst>
          </p:cNvPr>
          <p:cNvSpPr txBox="1"/>
          <p:nvPr/>
        </p:nvSpPr>
        <p:spPr>
          <a:xfrm>
            <a:off x="889000" y="29464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D6156C-CA48-F497-7B1B-BDE1349F9E00}"/>
              </a:ext>
            </a:extLst>
          </p:cNvPr>
          <p:cNvSpPr txBox="1"/>
          <p:nvPr/>
        </p:nvSpPr>
        <p:spPr>
          <a:xfrm>
            <a:off x="1193800" y="2946400"/>
            <a:ext cx="1010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向量各向异性：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BERT 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句向量挤在窄锥内、相似度整体偏高，是否需白化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流形变换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22067F-215B-4D16-CB2B-5F9845851732}"/>
              </a:ext>
            </a:extLst>
          </p:cNvPr>
          <p:cNvSpPr txBox="1"/>
          <p:nvPr/>
        </p:nvSpPr>
        <p:spPr>
          <a:xfrm>
            <a:off x="889000" y="36068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615D7B-BBD6-E0BD-7B89-F18B143180B0}"/>
              </a:ext>
            </a:extLst>
          </p:cNvPr>
          <p:cNvSpPr txBox="1"/>
          <p:nvPr/>
        </p:nvSpPr>
        <p:spPr>
          <a:xfrm>
            <a:off x="1193800" y="3606800"/>
            <a:ext cx="1010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负相似度（夹角 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&gt; 90°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）的含义：反义</a:t>
            </a:r>
            <a:r>
              <a:rPr lang="en-US" altLang="zh-CN" sz="1400">
                <a:solidFill>
                  <a:srgbClr val="262626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对立任务中如何利用，尚无定论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42AC46-D7C5-CA2F-492B-87DA47996CC2}"/>
              </a:ext>
            </a:extLst>
          </p:cNvPr>
          <p:cNvSpPr txBox="1"/>
          <p:nvPr/>
        </p:nvSpPr>
        <p:spPr>
          <a:xfrm>
            <a:off x="889000" y="42672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ED7D31"/>
                </a:solidFill>
                <a:latin typeface="微软雅黑" panose="020B0503020204020204" pitchFamily="34" charset="-122"/>
              </a:rPr>
              <a:t>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AF8ACD-9847-5339-3F57-AA882FEB8BFC}"/>
              </a:ext>
            </a:extLst>
          </p:cNvPr>
          <p:cNvSpPr txBox="1"/>
          <p:nvPr/>
        </p:nvSpPr>
        <p:spPr>
          <a:xfrm>
            <a:off x="1193800" y="4267200"/>
            <a:ext cx="10109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62626"/>
                </a:solidFill>
                <a:latin typeface="微软雅黑" panose="020B0503020204020204" pitchFamily="34" charset="-122"/>
              </a:rPr>
              <a:t>是否满足「度量」公理：不满足三角不等式，严格说不是距离，聚类时需谨慎</a:t>
            </a:r>
          </a:p>
        </p:txBody>
      </p:sp>
    </p:spTree>
    <p:extLst>
      <p:ext uri="{BB962C8B-B14F-4D97-AF65-F5344CB8AC3E}">
        <p14:creationId xmlns:p14="http://schemas.microsoft.com/office/powerpoint/2010/main" val="3010263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C4660A-EB45-8A48-C83C-E324C23CA3D9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大众认知误区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对照澄清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87AA23-0A94-9F9C-9C2A-707B94429683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27B808-BEFB-2744-04A8-82FE8B11D910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最容易踩的 </a:t>
            </a:r>
            <a:r>
              <a:rPr lang="en-US" altLang="zh-CN" sz="1300">
                <a:solidFill>
                  <a:srgbClr val="787878"/>
                </a:solidFill>
                <a:latin typeface="微软雅黑" panose="020B0503020204020204" pitchFamily="34" charset="-122"/>
              </a:rPr>
              <a:t>6 </a:t>
            </a:r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个坑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4C14C43-4FDD-6E6C-3FF1-6788D5DE3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093541"/>
              </p:ext>
            </p:extLst>
          </p:nvPr>
        </p:nvGraphicFramePr>
        <p:xfrm>
          <a:off x="711200" y="1397000"/>
          <a:ext cx="107696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01020143"/>
                    </a:ext>
                  </a:extLst>
                </a:gridCol>
                <a:gridCol w="7721600">
                  <a:extLst>
                    <a:ext uri="{9D8B030D-6E8A-4147-A177-3AD203B41FA5}">
                      <a16:colId xmlns:a16="http://schemas.microsoft.com/office/drawing/2014/main" val="1511431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误区</a:t>
                      </a:r>
                    </a:p>
                  </a:txBody>
                  <a:tcPr marL="101600" marT="508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澄清</a:t>
                      </a:r>
                    </a:p>
                  </a:txBody>
                  <a:tcPr marL="101600" marT="5080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9017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余弦相似度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=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相似程度，越大越像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不完整：它只衡量方向。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[1,1]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与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[100,100]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余弦为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，但数值差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倍，看「差多少」应用欧氏距离。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954091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cos = −1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表示「完全不相似」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错：−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1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表示方向正好相反，是「最强对立」；真正的「无关」是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cos ≈ 0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（夹角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90°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729384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0.8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就代表「高度相似」，是普适标准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错：余弦值无绝对标尺，不同嵌入空间含义不同，不是校准概率，不能跨模型比较。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80069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余弦可直接比较任意原始数据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错：只能作用于实数向量；文本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图片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类别须先编码成向量才能计算。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179646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把余弦相似度当距离使用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有风险：不满足三角不等式，直接用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1−cos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当「距离」在部分聚类算法中可能失效。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29017"/>
                  </a:ext>
                </a:extLst>
              </a:tr>
              <a:tr h="671286"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余弦相似度 </a:t>
                      </a:r>
                      <a:r>
                        <a:rPr lang="en-US" altLang="zh-CN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= </a:t>
                      </a:r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相关系数</a:t>
                      </a:r>
                    </a:p>
                  </a:txBody>
                  <a:tcPr marL="101600" marT="508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5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</a:rPr>
                        <a:t>只对中心化后的数据成立；对未中心化的原始向量，二者结果不同，不能混用。</a:t>
                      </a:r>
                    </a:p>
                  </a:txBody>
                  <a:tcPr marL="101600" marT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05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9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EA0D56-C3D6-4023-1DDE-ABC8FF6B3B08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历史时间线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国际奠基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9014B4-2F08-F079-7DB9-CE05325CE7E9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169626-76DF-57B3-72C2-98F41C004BB0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从几何到向量空间模型，再到深度学习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6AEA25-578E-A619-2095-1093CD0BFA2F}"/>
              </a:ext>
            </a:extLst>
          </p:cNvPr>
          <p:cNvCxnSpPr/>
          <p:nvPr/>
        </p:nvCxnSpPr>
        <p:spPr>
          <a:xfrm>
            <a:off x="889000" y="3683000"/>
            <a:ext cx="10414000" cy="0"/>
          </a:xfrm>
          <a:prstGeom prst="line">
            <a:avLst/>
          </a:prstGeom>
          <a:ln w="31750">
            <a:solidFill>
              <a:srgbClr val="CDD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C412F6FC-AFAD-27F4-7F88-6300E50B8B59}"/>
              </a:ext>
            </a:extLst>
          </p:cNvPr>
          <p:cNvSpPr/>
          <p:nvPr/>
        </p:nvSpPr>
        <p:spPr>
          <a:xfrm>
            <a:off x="800100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46C1E5-F7B3-C59E-AAB7-0312ECA91F3B}"/>
              </a:ext>
            </a:extLst>
          </p:cNvPr>
          <p:cNvSpPr txBox="1"/>
          <p:nvPr/>
        </p:nvSpPr>
        <p:spPr>
          <a:xfrm>
            <a:off x="-190500" y="2717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2E74B5"/>
                </a:solidFill>
                <a:latin typeface="微软雅黑" panose="020B0503020204020204" pitchFamily="34" charset="-122"/>
              </a:rPr>
              <a:t>前</a:t>
            </a:r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300</a:t>
            </a:r>
            <a:r>
              <a:rPr lang="zh-CN" altLang="en-US" sz="1300" b="1">
                <a:solidFill>
                  <a:srgbClr val="2E74B5"/>
                </a:solidFill>
                <a:latin typeface="微软雅黑" panose="020B0503020204020204" pitchFamily="34" charset="-122"/>
              </a:rPr>
              <a:t>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655691-1B2D-5643-A60F-5221CBBD1982}"/>
              </a:ext>
            </a:extLst>
          </p:cNvPr>
          <p:cNvSpPr txBox="1"/>
          <p:nvPr/>
        </p:nvSpPr>
        <p:spPr>
          <a:xfrm>
            <a:off x="-190500" y="3022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欧几里得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几何原本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》·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角度之源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14AF0BA-950C-E593-7AA9-921E6E03653E}"/>
              </a:ext>
            </a:extLst>
          </p:cNvPr>
          <p:cNvSpPr/>
          <p:nvPr/>
        </p:nvSpPr>
        <p:spPr>
          <a:xfrm>
            <a:off x="2287814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9EF123-A838-239A-5909-CEAD8FCF9925}"/>
              </a:ext>
            </a:extLst>
          </p:cNvPr>
          <p:cNvSpPr txBox="1"/>
          <p:nvPr/>
        </p:nvSpPr>
        <p:spPr>
          <a:xfrm>
            <a:off x="1297214" y="3962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19</a:t>
            </a:r>
            <a:r>
              <a:rPr lang="zh-CN" altLang="en-US" sz="1300" b="1">
                <a:solidFill>
                  <a:srgbClr val="2E74B5"/>
                </a:solidFill>
                <a:latin typeface="微软雅黑" panose="020B0503020204020204" pitchFamily="34" charset="-122"/>
              </a:rPr>
              <a:t>世纪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B8DE79-A80C-4EF0-817E-6C4F30059149}"/>
              </a:ext>
            </a:extLst>
          </p:cNvPr>
          <p:cNvSpPr txBox="1"/>
          <p:nvPr/>
        </p:nvSpPr>
        <p:spPr>
          <a:xfrm>
            <a:off x="1297214" y="4267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向量代数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点积确立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589157C-65F1-2037-C98D-28921F8ED612}"/>
              </a:ext>
            </a:extLst>
          </p:cNvPr>
          <p:cNvSpPr/>
          <p:nvPr/>
        </p:nvSpPr>
        <p:spPr>
          <a:xfrm>
            <a:off x="3775528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D11388-B614-38F9-3CD4-E3F0AA693CF9}"/>
              </a:ext>
            </a:extLst>
          </p:cNvPr>
          <p:cNvSpPr txBox="1"/>
          <p:nvPr/>
        </p:nvSpPr>
        <p:spPr>
          <a:xfrm>
            <a:off x="2784929" y="2717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1972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83F88F-8FA1-A35D-7962-1D919CB14891}"/>
              </a:ext>
            </a:extLst>
          </p:cNvPr>
          <p:cNvSpPr txBox="1"/>
          <p:nvPr/>
        </p:nvSpPr>
        <p:spPr>
          <a:xfrm>
            <a:off x="2784929" y="3022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Spärck Jones · IDF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DB65E18-12B6-176E-B889-5A154B6EC706}"/>
              </a:ext>
            </a:extLst>
          </p:cNvPr>
          <p:cNvSpPr/>
          <p:nvPr/>
        </p:nvSpPr>
        <p:spPr>
          <a:xfrm>
            <a:off x="5263243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34143AA-94A5-BBC7-1E19-D453D9A1B6D4}"/>
              </a:ext>
            </a:extLst>
          </p:cNvPr>
          <p:cNvSpPr txBox="1"/>
          <p:nvPr/>
        </p:nvSpPr>
        <p:spPr>
          <a:xfrm>
            <a:off x="4272643" y="3962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1975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6F08B6-4502-0475-3152-DBDE85593678}"/>
              </a:ext>
            </a:extLst>
          </p:cNvPr>
          <p:cNvSpPr txBox="1"/>
          <p:nvPr/>
        </p:nvSpPr>
        <p:spPr>
          <a:xfrm>
            <a:off x="4272643" y="4267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Salton · VSM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引入余弦 ★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9CD43B3-5479-5A1B-BC1A-49CA3551E1CA}"/>
              </a:ext>
            </a:extLst>
          </p:cNvPr>
          <p:cNvSpPr/>
          <p:nvPr/>
        </p:nvSpPr>
        <p:spPr>
          <a:xfrm>
            <a:off x="6750957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D35EDB-F17B-F7AA-9332-464941FFD57D}"/>
              </a:ext>
            </a:extLst>
          </p:cNvPr>
          <p:cNvSpPr txBox="1"/>
          <p:nvPr/>
        </p:nvSpPr>
        <p:spPr>
          <a:xfrm>
            <a:off x="5760357" y="2717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1988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06595E-8371-21E8-802C-DDF3637C22F8}"/>
              </a:ext>
            </a:extLst>
          </p:cNvPr>
          <p:cNvSpPr txBox="1"/>
          <p:nvPr/>
        </p:nvSpPr>
        <p:spPr>
          <a:xfrm>
            <a:off x="5760357" y="3022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LSA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潜在语义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020B9D7-B834-F40B-5DD8-10CB56A58382}"/>
              </a:ext>
            </a:extLst>
          </p:cNvPr>
          <p:cNvSpPr/>
          <p:nvPr/>
        </p:nvSpPr>
        <p:spPr>
          <a:xfrm>
            <a:off x="8238672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C5E918-C587-5E8C-FFBA-331FBE0EF089}"/>
              </a:ext>
            </a:extLst>
          </p:cNvPr>
          <p:cNvSpPr txBox="1"/>
          <p:nvPr/>
        </p:nvSpPr>
        <p:spPr>
          <a:xfrm>
            <a:off x="7248072" y="3962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2013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E94281-41F8-C1EC-CD8A-E72DAAB90460}"/>
              </a:ext>
            </a:extLst>
          </p:cNvPr>
          <p:cNvSpPr txBox="1"/>
          <p:nvPr/>
        </p:nvSpPr>
        <p:spPr>
          <a:xfrm>
            <a:off x="7248072" y="4267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Word2Vec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词向量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7DD917F-9C29-D5A9-0167-FBC5976757DF}"/>
              </a:ext>
            </a:extLst>
          </p:cNvPr>
          <p:cNvSpPr/>
          <p:nvPr/>
        </p:nvSpPr>
        <p:spPr>
          <a:xfrm>
            <a:off x="9726385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A26134E-AC0B-C78E-4576-C08CBDCE73F9}"/>
              </a:ext>
            </a:extLst>
          </p:cNvPr>
          <p:cNvSpPr txBox="1"/>
          <p:nvPr/>
        </p:nvSpPr>
        <p:spPr>
          <a:xfrm>
            <a:off x="8735785" y="2717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2017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2BCBC84-4A0F-B020-C2B8-44C5CF0E94CE}"/>
              </a:ext>
            </a:extLst>
          </p:cNvPr>
          <p:cNvSpPr txBox="1"/>
          <p:nvPr/>
        </p:nvSpPr>
        <p:spPr>
          <a:xfrm>
            <a:off x="8735785" y="3022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Transformer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92D70DC-5811-738B-1503-681AA1DDFBCE}"/>
              </a:ext>
            </a:extLst>
          </p:cNvPr>
          <p:cNvSpPr/>
          <p:nvPr/>
        </p:nvSpPr>
        <p:spPr>
          <a:xfrm>
            <a:off x="11214100" y="3594100"/>
            <a:ext cx="177800" cy="177800"/>
          </a:xfrm>
          <a:prstGeom prst="ellipse">
            <a:avLst/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47A4015-FC48-CA66-E5AE-4C7596D481D6}"/>
              </a:ext>
            </a:extLst>
          </p:cNvPr>
          <p:cNvSpPr txBox="1"/>
          <p:nvPr/>
        </p:nvSpPr>
        <p:spPr>
          <a:xfrm>
            <a:off x="10223500" y="3962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2E74B5"/>
                </a:solidFill>
                <a:latin typeface="微软雅黑" panose="020B0503020204020204" pitchFamily="34" charset="-122"/>
              </a:rPr>
              <a:t>2018</a:t>
            </a:r>
            <a:endParaRPr lang="zh-CN" altLang="en-US" sz="1300" b="1">
              <a:solidFill>
                <a:srgbClr val="2E74B5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A670AF-0818-DC0C-7A94-6A1EA51B575A}"/>
              </a:ext>
            </a:extLst>
          </p:cNvPr>
          <p:cNvSpPr txBox="1"/>
          <p:nvPr/>
        </p:nvSpPr>
        <p:spPr>
          <a:xfrm>
            <a:off x="10223500" y="4267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BERT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句向量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FC615E5-9B01-A0B5-8D2D-811EEE29B7CE}"/>
              </a:ext>
            </a:extLst>
          </p:cNvPr>
          <p:cNvSpPr/>
          <p:nvPr/>
        </p:nvSpPr>
        <p:spPr>
          <a:xfrm>
            <a:off x="889000" y="5588000"/>
            <a:ext cx="10414000" cy="584200"/>
          </a:xfrm>
          <a:prstGeom prst="roundRect">
            <a:avLst>
              <a:gd name="adj" fmla="val 7000"/>
            </a:avLst>
          </a:prstGeom>
          <a:solidFill>
            <a:srgbClr val="DCE6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532720C-4F9B-B4D7-DFFF-167C6EB3A997}"/>
              </a:ext>
            </a:extLst>
          </p:cNvPr>
          <p:cNvSpPr txBox="1"/>
          <p:nvPr/>
        </p:nvSpPr>
        <p:spPr>
          <a:xfrm>
            <a:off x="1143000" y="5740400"/>
            <a:ext cx="990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F4E79"/>
                </a:solidFill>
                <a:latin typeface="微软雅黑" panose="020B0503020204020204" pitchFamily="34" charset="-122"/>
              </a:rPr>
              <a:t>★ </a:t>
            </a:r>
            <a:r>
              <a:rPr lang="en-US" altLang="zh-CN" sz="1300" b="1">
                <a:solidFill>
                  <a:srgbClr val="1F4E79"/>
                </a:solidFill>
                <a:latin typeface="微软雅黑" panose="020B0503020204020204" pitchFamily="34" charset="-122"/>
              </a:rPr>
              <a:t>1975 </a:t>
            </a:r>
            <a:r>
              <a:rPr lang="zh-CN" altLang="en-US" sz="1300" b="1">
                <a:solidFill>
                  <a:srgbClr val="1F4E79"/>
                </a:solidFill>
                <a:latin typeface="微软雅黑" panose="020B0503020204020204" pitchFamily="34" charset="-122"/>
              </a:rPr>
              <a:t>年 </a:t>
            </a:r>
            <a:r>
              <a:rPr lang="en-US" altLang="zh-CN" sz="1300" b="1">
                <a:solidFill>
                  <a:srgbClr val="1F4E79"/>
                </a:solidFill>
                <a:latin typeface="微软雅黑" panose="020B0503020204020204" pitchFamily="34" charset="-122"/>
              </a:rPr>
              <a:t>Salton </a:t>
            </a:r>
            <a:r>
              <a:rPr lang="zh-CN" altLang="en-US" sz="1300" b="1">
                <a:solidFill>
                  <a:srgbClr val="1F4E79"/>
                </a:solidFill>
                <a:latin typeface="微软雅黑" panose="020B0503020204020204" pitchFamily="34" charset="-122"/>
              </a:rPr>
              <a:t>的向量空间模型（</a:t>
            </a:r>
            <a:r>
              <a:rPr lang="en-US" altLang="zh-CN" sz="1300" b="1">
                <a:solidFill>
                  <a:srgbClr val="1F4E79"/>
                </a:solidFill>
                <a:latin typeface="微软雅黑" panose="020B0503020204020204" pitchFamily="34" charset="-122"/>
              </a:rPr>
              <a:t>VSM</a:t>
            </a:r>
            <a:r>
              <a:rPr lang="zh-CN" altLang="en-US" sz="1300" b="1">
                <a:solidFill>
                  <a:srgbClr val="1F4E79"/>
                </a:solidFill>
                <a:latin typeface="微软雅黑" panose="020B0503020204020204" pitchFamily="34" charset="-122"/>
              </a:rPr>
              <a:t>），让余弦相似度正式成为计算机科学的默认相似度工具。</a:t>
            </a:r>
          </a:p>
        </p:txBody>
      </p:sp>
    </p:spTree>
    <p:extLst>
      <p:ext uri="{BB962C8B-B14F-4D97-AF65-F5344CB8AC3E}">
        <p14:creationId xmlns:p14="http://schemas.microsoft.com/office/powerpoint/2010/main" val="224365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6B1E1-F371-C709-6F8B-B3F6B4F08194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历史时间线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中国本土突破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4A1B12-89EE-8BDC-AB75-63C94FBE8057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05A12E-48C2-3396-367B-3F74A0F9D68A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中文语义相似度链条中的关键节点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32DA3DF-3400-048A-F06F-DB1FE960399C}"/>
              </a:ext>
            </a:extLst>
          </p:cNvPr>
          <p:cNvCxnSpPr/>
          <p:nvPr/>
        </p:nvCxnSpPr>
        <p:spPr>
          <a:xfrm>
            <a:off x="1016000" y="3810000"/>
            <a:ext cx="10160000" cy="0"/>
          </a:xfrm>
          <a:prstGeom prst="line">
            <a:avLst/>
          </a:prstGeom>
          <a:ln w="31750">
            <a:solidFill>
              <a:srgbClr val="CDD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896743F5-58AC-32C7-65EE-C9E30A5286EC}"/>
              </a:ext>
            </a:extLst>
          </p:cNvPr>
          <p:cNvSpPr/>
          <p:nvPr/>
        </p:nvSpPr>
        <p:spPr>
          <a:xfrm>
            <a:off x="927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2E9778-35AC-E5CF-2F1F-C510405FC631}"/>
              </a:ext>
            </a:extLst>
          </p:cNvPr>
          <p:cNvSpPr txBox="1"/>
          <p:nvPr/>
        </p:nvSpPr>
        <p:spPr>
          <a:xfrm>
            <a:off x="-63500" y="2844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2000s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87D0AF-FDF6-8B28-6288-C71D2B78F27C}"/>
              </a:ext>
            </a:extLst>
          </p:cNvPr>
          <p:cNvSpPr txBox="1"/>
          <p:nvPr/>
        </p:nvSpPr>
        <p:spPr>
          <a:xfrm>
            <a:off x="-63500" y="3149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哈工大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同义词词林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/ LTP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69C5898-9666-3A7A-5BD1-114E04190FF8}"/>
              </a:ext>
            </a:extLst>
          </p:cNvPr>
          <p:cNvSpPr/>
          <p:nvPr/>
        </p:nvSpPr>
        <p:spPr>
          <a:xfrm>
            <a:off x="2959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09B44F-28D4-CC03-F678-0DFA93998D18}"/>
              </a:ext>
            </a:extLst>
          </p:cNvPr>
          <p:cNvSpPr txBox="1"/>
          <p:nvPr/>
        </p:nvSpPr>
        <p:spPr>
          <a:xfrm>
            <a:off x="1968500" y="4089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2019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5FFC38-6CC3-22A1-CF4B-E2681695F355}"/>
              </a:ext>
            </a:extLst>
          </p:cNvPr>
          <p:cNvSpPr txBox="1"/>
          <p:nvPr/>
        </p:nvSpPr>
        <p:spPr>
          <a:xfrm>
            <a:off x="1968500" y="4394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百度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· ERNIE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F90A81-BE67-C452-9B15-A969F642E510}"/>
              </a:ext>
            </a:extLst>
          </p:cNvPr>
          <p:cNvSpPr/>
          <p:nvPr/>
        </p:nvSpPr>
        <p:spPr>
          <a:xfrm>
            <a:off x="4991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D777C9-6613-0E58-B07F-725583B3F365}"/>
              </a:ext>
            </a:extLst>
          </p:cNvPr>
          <p:cNvSpPr txBox="1"/>
          <p:nvPr/>
        </p:nvSpPr>
        <p:spPr>
          <a:xfrm>
            <a:off x="4000500" y="2844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2020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E6D4A5-738B-8EBC-40D2-DC6235BC78A5}"/>
              </a:ext>
            </a:extLst>
          </p:cNvPr>
          <p:cNvSpPr txBox="1"/>
          <p:nvPr/>
        </p:nvSpPr>
        <p:spPr>
          <a:xfrm>
            <a:off x="4000500" y="3149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BERT-flow ·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华人团队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004DA22-6759-64AD-AD85-9AF9B8141CCC}"/>
              </a:ext>
            </a:extLst>
          </p:cNvPr>
          <p:cNvSpPr/>
          <p:nvPr/>
        </p:nvSpPr>
        <p:spPr>
          <a:xfrm>
            <a:off x="7023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D2130D-A03C-7E90-8AB7-779F2A2417F4}"/>
              </a:ext>
            </a:extLst>
          </p:cNvPr>
          <p:cNvSpPr txBox="1"/>
          <p:nvPr/>
        </p:nvSpPr>
        <p:spPr>
          <a:xfrm>
            <a:off x="6032500" y="4089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2021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F0FBFD-2A84-67A9-A64B-3DC2C8BBB3EF}"/>
              </a:ext>
            </a:extLst>
          </p:cNvPr>
          <p:cNvSpPr txBox="1"/>
          <p:nvPr/>
        </p:nvSpPr>
        <p:spPr>
          <a:xfrm>
            <a:off x="6032500" y="4394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SimCSE ·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陈丹琦等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B006B91-B32A-0A46-2AD4-ACF47F2324A6}"/>
              </a:ext>
            </a:extLst>
          </p:cNvPr>
          <p:cNvSpPr/>
          <p:nvPr/>
        </p:nvSpPr>
        <p:spPr>
          <a:xfrm>
            <a:off x="9055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4C7FDB-7381-02E1-A6C7-AD6C79236F5B}"/>
              </a:ext>
            </a:extLst>
          </p:cNvPr>
          <p:cNvSpPr txBox="1"/>
          <p:nvPr/>
        </p:nvSpPr>
        <p:spPr>
          <a:xfrm>
            <a:off x="8064500" y="28448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2021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6859DE-85FE-42B7-A718-26849DD24231}"/>
              </a:ext>
            </a:extLst>
          </p:cNvPr>
          <p:cNvSpPr txBox="1"/>
          <p:nvPr/>
        </p:nvSpPr>
        <p:spPr>
          <a:xfrm>
            <a:off x="8064500" y="3149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苏剑林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· RoPE / text2vec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5F831F-F81E-66D1-BF6A-F13700207D59}"/>
              </a:ext>
            </a:extLst>
          </p:cNvPr>
          <p:cNvSpPr/>
          <p:nvPr/>
        </p:nvSpPr>
        <p:spPr>
          <a:xfrm>
            <a:off x="11087100" y="3721100"/>
            <a:ext cx="177800" cy="177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D95E0E-ABCA-928F-E2B2-B7EF21B21AEC}"/>
              </a:ext>
            </a:extLst>
          </p:cNvPr>
          <p:cNvSpPr txBox="1"/>
          <p:nvPr/>
        </p:nvSpPr>
        <p:spPr>
          <a:xfrm>
            <a:off x="10096500" y="40894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ED7D31"/>
                </a:solidFill>
                <a:latin typeface="微软雅黑" panose="020B0503020204020204" pitchFamily="34" charset="-122"/>
              </a:rPr>
              <a:t>2022+</a:t>
            </a:r>
            <a:endParaRPr lang="zh-CN" altLang="en-US" sz="1300" b="1">
              <a:solidFill>
                <a:srgbClr val="ED7D3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312A38-C3DD-F409-03FF-FEB3AC554ECC}"/>
              </a:ext>
            </a:extLst>
          </p:cNvPr>
          <p:cNvSpPr txBox="1"/>
          <p:nvPr/>
        </p:nvSpPr>
        <p:spPr>
          <a:xfrm>
            <a:off x="10096500" y="43942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阿里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100">
                <a:solidFill>
                  <a:srgbClr val="262626"/>
                </a:solidFill>
                <a:latin typeface="微软雅黑" panose="020B0503020204020204" pitchFamily="34" charset="-122"/>
              </a:rPr>
              <a:t>腾讯 </a:t>
            </a:r>
            <a:r>
              <a:rPr lang="en-US" altLang="zh-CN" sz="1100">
                <a:solidFill>
                  <a:srgbClr val="262626"/>
                </a:solidFill>
                <a:latin typeface="微软雅黑" panose="020B0503020204020204" pitchFamily="34" charset="-122"/>
              </a:rPr>
              <a:t>· embedding</a:t>
            </a:r>
            <a:endParaRPr lang="zh-CN" altLang="en-US" sz="110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DD64242-F9EE-341B-7E13-614B8F93B336}"/>
              </a:ext>
            </a:extLst>
          </p:cNvPr>
          <p:cNvSpPr/>
          <p:nvPr/>
        </p:nvSpPr>
        <p:spPr>
          <a:xfrm>
            <a:off x="1016000" y="5588000"/>
            <a:ext cx="10414000" cy="5842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509149-465E-3EAA-CC2B-DAC1A4D85638}"/>
              </a:ext>
            </a:extLst>
          </p:cNvPr>
          <p:cNvSpPr txBox="1"/>
          <p:nvPr/>
        </p:nvSpPr>
        <p:spPr>
          <a:xfrm>
            <a:off x="1270000" y="5740400"/>
            <a:ext cx="990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哈工大词典与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LTP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、百度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ERNIE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、苏剑林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RoPE 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text2vec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、华人团队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BERT-flow 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50">
                <a:solidFill>
                  <a:srgbClr val="262626"/>
                </a:solidFill>
                <a:latin typeface="微软雅黑" panose="020B0503020204020204" pitchFamily="34" charset="-122"/>
              </a:rPr>
              <a:t>SimCSE</a:t>
            </a:r>
            <a:r>
              <a:rPr lang="zh-CN" altLang="en-US" sz="1250">
                <a:solidFill>
                  <a:srgbClr val="262626"/>
                </a:solidFill>
                <a:latin typeface="微软雅黑" panose="020B0503020204020204" pitchFamily="34" charset="-122"/>
              </a:rPr>
              <a:t>，与国际工作并驾齐驱。</a:t>
            </a:r>
          </a:p>
        </p:txBody>
      </p:sp>
    </p:spTree>
    <p:extLst>
      <p:ext uri="{BB962C8B-B14F-4D97-AF65-F5344CB8AC3E}">
        <p14:creationId xmlns:p14="http://schemas.microsoft.com/office/powerpoint/2010/main" val="370764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AD7D01-7E97-461A-DCF7-87A314B29B63}"/>
              </a:ext>
            </a:extLst>
          </p:cNvPr>
          <p:cNvSpPr txBox="1"/>
          <p:nvPr/>
        </p:nvSpPr>
        <p:spPr>
          <a:xfrm>
            <a:off x="533400" y="330200"/>
            <a:ext cx="11125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真实应用 </a:t>
            </a:r>
            <a:r>
              <a:rPr lang="en-US" altLang="zh-CN" sz="2500" b="1">
                <a:solidFill>
                  <a:srgbClr val="1F4E79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500" b="1">
                <a:solidFill>
                  <a:srgbClr val="1F4E79"/>
                </a:solidFill>
                <a:latin typeface="微软雅黑" panose="020B0503020204020204" pitchFamily="34" charset="-122"/>
              </a:rPr>
              <a:t>三个落地场景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2D2175-42E0-D450-8A5D-ED4BA4B62721}"/>
              </a:ext>
            </a:extLst>
          </p:cNvPr>
          <p:cNvSpPr/>
          <p:nvPr/>
        </p:nvSpPr>
        <p:spPr>
          <a:xfrm>
            <a:off x="558800" y="8636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6C6AAF-8D5A-A09F-2D17-DC74851C0E43}"/>
              </a:ext>
            </a:extLst>
          </p:cNvPr>
          <p:cNvSpPr txBox="1"/>
          <p:nvPr/>
        </p:nvSpPr>
        <p:spPr>
          <a:xfrm>
            <a:off x="533400" y="1041400"/>
            <a:ext cx="1112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787878"/>
                </a:solidFill>
                <a:latin typeface="微软雅黑" panose="020B0503020204020204" pitchFamily="34" charset="-122"/>
              </a:rPr>
              <a:t>从搜索到推荐再到客服，处处是余弦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F66C6D-0C4F-5359-81A9-D205CCE4C549}"/>
              </a:ext>
            </a:extLst>
          </p:cNvPr>
          <p:cNvSpPr/>
          <p:nvPr/>
        </p:nvSpPr>
        <p:spPr>
          <a:xfrm>
            <a:off x="711200" y="1651000"/>
            <a:ext cx="3403600" cy="4064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62479F-4918-8125-53BD-CE315B8BE620}"/>
              </a:ext>
            </a:extLst>
          </p:cNvPr>
          <p:cNvSpPr/>
          <p:nvPr/>
        </p:nvSpPr>
        <p:spPr>
          <a:xfrm>
            <a:off x="711200" y="1651000"/>
            <a:ext cx="3403600" cy="1016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A61B4F-1CED-DE30-9D19-0306E4088397}"/>
              </a:ext>
            </a:extLst>
          </p:cNvPr>
          <p:cNvSpPr txBox="1"/>
          <p:nvPr/>
        </p:nvSpPr>
        <p:spPr>
          <a:xfrm>
            <a:off x="1016000" y="18542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F4E79"/>
                </a:solidFill>
                <a:latin typeface="微软雅黑" panose="020B0503020204020204" pitchFamily="34" charset="-122"/>
              </a:rPr>
              <a:t>搜索引擎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2C88E6-AA36-CB80-B279-8F4C131A670B}"/>
              </a:ext>
            </a:extLst>
          </p:cNvPr>
          <p:cNvSpPr txBox="1"/>
          <p:nvPr/>
        </p:nvSpPr>
        <p:spPr>
          <a:xfrm>
            <a:off x="1016000" y="22860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相关结果排序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9350EE-4FBD-DCD8-304C-55D7BAF02758}"/>
              </a:ext>
            </a:extLst>
          </p:cNvPr>
          <p:cNvSpPr txBox="1"/>
          <p:nvPr/>
        </p:nvSpPr>
        <p:spPr>
          <a:xfrm>
            <a:off x="1016000" y="2717800"/>
            <a:ext cx="27940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787878"/>
                </a:solidFill>
                <a:latin typeface="微软雅黑" panose="020B0503020204020204" pitchFamily="34" charset="-122"/>
              </a:rPr>
              <a:t>查询与网页表为 </a:t>
            </a:r>
            <a:r>
              <a:rPr lang="en-US" altLang="zh-CN" sz="1250">
                <a:solidFill>
                  <a:srgbClr val="787878"/>
                </a:solidFill>
                <a:latin typeface="微软雅黑" panose="020B0503020204020204" pitchFamily="34" charset="-122"/>
              </a:rPr>
              <a:t>TF-IDF </a:t>
            </a:r>
            <a:r>
              <a:rPr lang="zh-CN" altLang="en-US" sz="1250">
                <a:solidFill>
                  <a:srgbClr val="787878"/>
                </a:solidFill>
                <a:latin typeface="微软雅黑" panose="020B0503020204020204" pitchFamily="34" charset="-122"/>
              </a:rPr>
              <a:t>向量，按夹角余弦给相关性打分，实现「第一页就能找到答案」。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15939D-8BBF-3ACC-235D-59CD848794F3}"/>
              </a:ext>
            </a:extLst>
          </p:cNvPr>
          <p:cNvSpPr/>
          <p:nvPr/>
        </p:nvSpPr>
        <p:spPr>
          <a:xfrm>
            <a:off x="4470400" y="1651000"/>
            <a:ext cx="3403600" cy="4064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A74EC1-E22F-D996-F1E5-E29ECA03DF83}"/>
              </a:ext>
            </a:extLst>
          </p:cNvPr>
          <p:cNvSpPr/>
          <p:nvPr/>
        </p:nvSpPr>
        <p:spPr>
          <a:xfrm>
            <a:off x="4470400" y="1651000"/>
            <a:ext cx="3403600" cy="1016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384FF9-EA88-BE6A-E646-15A7FBC36082}"/>
              </a:ext>
            </a:extLst>
          </p:cNvPr>
          <p:cNvSpPr txBox="1"/>
          <p:nvPr/>
        </p:nvSpPr>
        <p:spPr>
          <a:xfrm>
            <a:off x="4775200" y="18542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ED7D31"/>
                </a:solidFill>
                <a:latin typeface="微软雅黑" panose="020B0503020204020204" pitchFamily="34" charset="-122"/>
              </a:rPr>
              <a:t>推荐系统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14946E-76E0-2DB4-E8A3-0A74C1ECEFF1}"/>
              </a:ext>
            </a:extLst>
          </p:cNvPr>
          <p:cNvSpPr txBox="1"/>
          <p:nvPr/>
        </p:nvSpPr>
        <p:spPr>
          <a:xfrm>
            <a:off x="4775200" y="22860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电商 </a:t>
            </a:r>
            <a:r>
              <a:rPr lang="en-US" altLang="zh-CN" sz="1300">
                <a:solidFill>
                  <a:srgbClr val="26262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短视频「猜你喜欢」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AA0A87-E9B6-43D6-5940-AA8CFB4E099F}"/>
              </a:ext>
            </a:extLst>
          </p:cNvPr>
          <p:cNvSpPr txBox="1"/>
          <p:nvPr/>
        </p:nvSpPr>
        <p:spPr>
          <a:xfrm>
            <a:off x="4775200" y="2717800"/>
            <a:ext cx="279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787878"/>
                </a:solidFill>
                <a:latin typeface="微软雅黑" panose="020B0503020204020204" pitchFamily="34" charset="-122"/>
              </a:rPr>
              <a:t>用户与商品映射为隐因子向量，用余弦找最相似项，支撑千人千面的精准分发。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9C828F-CBFB-CCBF-CA32-E4CDA6896A69}"/>
              </a:ext>
            </a:extLst>
          </p:cNvPr>
          <p:cNvSpPr/>
          <p:nvPr/>
        </p:nvSpPr>
        <p:spPr>
          <a:xfrm>
            <a:off x="8229600" y="1651000"/>
            <a:ext cx="3403600" cy="40640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115A95-1377-4E9F-CCAA-48975734F904}"/>
              </a:ext>
            </a:extLst>
          </p:cNvPr>
          <p:cNvSpPr/>
          <p:nvPr/>
        </p:nvSpPr>
        <p:spPr>
          <a:xfrm>
            <a:off x="8229600" y="1651000"/>
            <a:ext cx="3403600" cy="101600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B8D65-8F6F-9981-4508-1BD82ADC3B29}"/>
              </a:ext>
            </a:extLst>
          </p:cNvPr>
          <p:cNvSpPr txBox="1"/>
          <p:nvPr/>
        </p:nvSpPr>
        <p:spPr>
          <a:xfrm>
            <a:off x="8534400" y="18542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70AD47"/>
                </a:solidFill>
                <a:latin typeface="微软雅黑" panose="020B0503020204020204" pitchFamily="34" charset="-122"/>
              </a:rPr>
              <a:t>智能客服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A38437-C94D-F119-A68A-CF204F86B085}"/>
              </a:ext>
            </a:extLst>
          </p:cNvPr>
          <p:cNvSpPr txBox="1"/>
          <p:nvPr/>
        </p:nvSpPr>
        <p:spPr>
          <a:xfrm>
            <a:off x="8534400" y="2286000"/>
            <a:ext cx="279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262626"/>
                </a:solidFill>
                <a:latin typeface="微软雅黑" panose="020B0503020204020204" pitchFamily="34" charset="-122"/>
              </a:rPr>
              <a:t>相似问自动匹配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DD4972-DC13-BFBD-F2D0-A7FEDD95F755}"/>
              </a:ext>
            </a:extLst>
          </p:cNvPr>
          <p:cNvSpPr txBox="1"/>
          <p:nvPr/>
        </p:nvSpPr>
        <p:spPr>
          <a:xfrm>
            <a:off x="8534400" y="2717800"/>
            <a:ext cx="27940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787878"/>
                </a:solidFill>
                <a:latin typeface="微软雅黑" panose="020B0503020204020204" pitchFamily="34" charset="-122"/>
              </a:rPr>
              <a:t>句向量模型把用户问题与标准问编码成向量，匹配最相似答案，常见问题秒级自动应答。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750CDD-5CB1-2D70-1047-56E403CBC91C}"/>
              </a:ext>
            </a:extLst>
          </p:cNvPr>
          <p:cNvSpPr txBox="1"/>
          <p:nvPr/>
        </p:nvSpPr>
        <p:spPr>
          <a:xfrm>
            <a:off x="711200" y="5969000"/>
            <a:ext cx="10820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4E79"/>
                </a:solidFill>
                <a:latin typeface="微软雅黑" panose="020B0503020204020204" pitchFamily="34" charset="-122"/>
              </a:rPr>
              <a:t>共性价值：把「像不像」变成可计算、可排序、可解释的分数，是智能化产品的核心引擎之一。</a:t>
            </a:r>
          </a:p>
        </p:txBody>
      </p:sp>
    </p:spTree>
    <p:extLst>
      <p:ext uri="{BB962C8B-B14F-4D97-AF65-F5344CB8AC3E}">
        <p14:creationId xmlns:p14="http://schemas.microsoft.com/office/powerpoint/2010/main" val="29272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C67FCE-8B82-D5E1-0423-4CC30EAA4A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8893E-F91E-9153-0AC7-C3D9284EC470}"/>
              </a:ext>
            </a:extLst>
          </p:cNvPr>
          <p:cNvSpPr txBox="1"/>
          <p:nvPr/>
        </p:nvSpPr>
        <p:spPr>
          <a:xfrm>
            <a:off x="762000" y="5842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</a:rPr>
              <a:t>总结 </a:t>
            </a:r>
            <a:r>
              <a:rPr lang="en-US" altLang="zh-CN" sz="2800" b="1">
                <a:solidFill>
                  <a:srgbClr val="FFFF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</a:rPr>
              <a:t>核心要点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A1CFAF-5FF7-A7D2-A2E8-C4F19423DD5E}"/>
              </a:ext>
            </a:extLst>
          </p:cNvPr>
          <p:cNvSpPr/>
          <p:nvPr/>
        </p:nvSpPr>
        <p:spPr>
          <a:xfrm>
            <a:off x="787400" y="1193800"/>
            <a:ext cx="8128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8F05FA2-369D-4E50-A906-7A226C11E53A}"/>
              </a:ext>
            </a:extLst>
          </p:cNvPr>
          <p:cNvSpPr/>
          <p:nvPr/>
        </p:nvSpPr>
        <p:spPr>
          <a:xfrm>
            <a:off x="1016000" y="1676400"/>
            <a:ext cx="381000" cy="3810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41E4B-B7F8-23F2-5C3F-91CDDC6EB8B9}"/>
              </a:ext>
            </a:extLst>
          </p:cNvPr>
          <p:cNvSpPr txBox="1"/>
          <p:nvPr/>
        </p:nvSpPr>
        <p:spPr>
          <a:xfrm>
            <a:off x="1600200" y="16510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它量化「方向一致」，取值 −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到 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，越接近 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越相似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E6D534A-DBE2-2808-9C26-77125FB90A64}"/>
              </a:ext>
            </a:extLst>
          </p:cNvPr>
          <p:cNvSpPr/>
          <p:nvPr/>
        </p:nvSpPr>
        <p:spPr>
          <a:xfrm>
            <a:off x="1016000" y="2463800"/>
            <a:ext cx="381000" cy="3810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1A3AC8-42DE-02A3-C24B-87C7BDACCA87}"/>
              </a:ext>
            </a:extLst>
          </p:cNvPr>
          <p:cNvSpPr txBox="1"/>
          <p:nvPr/>
        </p:nvSpPr>
        <p:spPr>
          <a:xfrm>
            <a:off x="1600200" y="2438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核心特性是尺度不变性：只认方向、不看长短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72349F7-88C8-1BDB-CE88-A7FBE476C4DB}"/>
              </a:ext>
            </a:extLst>
          </p:cNvPr>
          <p:cNvSpPr/>
          <p:nvPr/>
        </p:nvSpPr>
        <p:spPr>
          <a:xfrm>
            <a:off x="1016000" y="3251200"/>
            <a:ext cx="381000" cy="3810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6CCAF6-038A-69D7-E18A-42941127B7A6}"/>
              </a:ext>
            </a:extLst>
          </p:cNvPr>
          <p:cNvSpPr txBox="1"/>
          <p:nvPr/>
        </p:nvSpPr>
        <p:spPr>
          <a:xfrm>
            <a:off x="1600200" y="32258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主流范式：向量化 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余弦，贯穿搜索、推荐、语义理解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9B2E238-7A03-5A73-8B7A-A467AEE769B3}"/>
              </a:ext>
            </a:extLst>
          </p:cNvPr>
          <p:cNvSpPr/>
          <p:nvPr/>
        </p:nvSpPr>
        <p:spPr>
          <a:xfrm>
            <a:off x="1016000" y="4038600"/>
            <a:ext cx="381000" cy="3810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348F4F-530C-0C44-84E4-40E6EF28D69C}"/>
              </a:ext>
            </a:extLst>
          </p:cNvPr>
          <p:cNvSpPr txBox="1"/>
          <p:nvPr/>
        </p:nvSpPr>
        <p:spPr>
          <a:xfrm>
            <a:off x="1600200" y="4013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记住误区：−</a:t>
            </a:r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</a:rPr>
              <a:t>1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pitchFamily="34" charset="-122"/>
              </a:rPr>
              <a:t>是「相反」不是「无关」，余弦值没有绝对标尺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543FEDE-8136-14CE-7971-1DE9A8B8FA99}"/>
              </a:ext>
            </a:extLst>
          </p:cNvPr>
          <p:cNvSpPr/>
          <p:nvPr/>
        </p:nvSpPr>
        <p:spPr>
          <a:xfrm>
            <a:off x="1016000" y="5080000"/>
            <a:ext cx="10160000" cy="965200"/>
          </a:xfrm>
          <a:prstGeom prst="roundRect">
            <a:avLst>
              <a:gd name="adj" fmla="val 7000"/>
            </a:avLst>
          </a:prstGeom>
          <a:solidFill>
            <a:srgbClr val="2E74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F1FA54-1F7D-5899-B7F4-91F6C9094DD4}"/>
              </a:ext>
            </a:extLst>
          </p:cNvPr>
          <p:cNvSpPr txBox="1"/>
          <p:nvPr/>
        </p:nvSpPr>
        <p:spPr>
          <a:xfrm>
            <a:off x="1016000" y="53594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</a:rPr>
              <a:t>余弦相似度 </a:t>
            </a:r>
            <a:r>
              <a:rPr lang="en-US" altLang="zh-CN" sz="2000" b="1">
                <a:solidFill>
                  <a:srgbClr val="FFFFFF"/>
                </a:solidFill>
                <a:latin typeface="微软雅黑" panose="020B0503020204020204" pitchFamily="34" charset="-122"/>
              </a:rPr>
              <a:t>—— </a:t>
            </a:r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</a:rPr>
              <a:t>「判断两样东西是否相似」的默认标尺。</a:t>
            </a:r>
          </a:p>
        </p:txBody>
      </p:sp>
    </p:spTree>
    <p:extLst>
      <p:ext uri="{BB962C8B-B14F-4D97-AF65-F5344CB8AC3E}">
        <p14:creationId xmlns:p14="http://schemas.microsoft.com/office/powerpoint/2010/main" val="63778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2066</Words>
  <Application>Microsoft Office PowerPoint</Application>
  <PresentationFormat>自定义</PresentationFormat>
  <Paragraphs>168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心月 杨</dc:creator>
  <cp:lastModifiedBy>心月 杨</cp:lastModifiedBy>
  <cp:revision>1</cp:revision>
  <dcterms:created xsi:type="dcterms:W3CDTF">2026-09-19T19:34:39Z</dcterms:created>
  <dcterms:modified xsi:type="dcterms:W3CDTF">2026-09-19T19:34:39Z</dcterms:modified>
</cp:coreProperties>
</file>